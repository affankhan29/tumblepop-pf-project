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ilda Display" charset="1" panose="02000000000000000000"/>
      <p:regular r:id="rId19"/>
    </p:embeddedFont>
    <p:embeddedFont>
      <p:font typeface="HK Grotesk Light" charset="1" panose="00000400000000000000"/>
      <p:regular r:id="rId20"/>
    </p:embeddedFont>
    <p:embeddedFont>
      <p:font typeface="HK Grotesk Bold" charset="1" panose="00000800000000000000"/>
      <p:regular r:id="rId21"/>
    </p:embeddedFont>
    <p:embeddedFont>
      <p:font typeface="HK Grotesk"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sp>
        <p:nvSpPr>
          <p:cNvPr name="Freeform 2" id="2"/>
          <p:cNvSpPr/>
          <p:nvPr/>
        </p:nvSpPr>
        <p:spPr>
          <a:xfrm flipH="false" flipV="false" rot="0">
            <a:off x="13611225" y="6787402"/>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666750" y="666750"/>
            <a:ext cx="8629650" cy="8953500"/>
            <a:chOff x="0" y="0"/>
            <a:chExt cx="1336959" cy="1387131"/>
          </a:xfrm>
        </p:grpSpPr>
        <p:sp>
          <p:nvSpPr>
            <p:cNvPr name="Freeform 4" id="4"/>
            <p:cNvSpPr/>
            <p:nvPr/>
          </p:nvSpPr>
          <p:spPr>
            <a:xfrm flipH="false" flipV="false" rot="0">
              <a:off x="0" y="0"/>
              <a:ext cx="1336959" cy="1387131"/>
            </a:xfrm>
            <a:custGeom>
              <a:avLst/>
              <a:gdLst/>
              <a:ahLst/>
              <a:cxnLst/>
              <a:rect r="r" b="b" t="t" l="l"/>
              <a:pathLst>
                <a:path h="1387131" w="1336959">
                  <a:moveTo>
                    <a:pt x="35885" y="0"/>
                  </a:moveTo>
                  <a:lnTo>
                    <a:pt x="1301073" y="0"/>
                  </a:lnTo>
                  <a:cubicBezTo>
                    <a:pt x="1310591" y="0"/>
                    <a:pt x="1319718" y="3781"/>
                    <a:pt x="1326448" y="10511"/>
                  </a:cubicBezTo>
                  <a:cubicBezTo>
                    <a:pt x="1333178" y="17240"/>
                    <a:pt x="1336959" y="26368"/>
                    <a:pt x="1336959" y="35885"/>
                  </a:cubicBezTo>
                  <a:lnTo>
                    <a:pt x="1336959" y="1351246"/>
                  </a:lnTo>
                  <a:cubicBezTo>
                    <a:pt x="1336959" y="1360764"/>
                    <a:pt x="1333178" y="1369891"/>
                    <a:pt x="1326448" y="1376621"/>
                  </a:cubicBezTo>
                  <a:cubicBezTo>
                    <a:pt x="1319718" y="1383351"/>
                    <a:pt x="1310591" y="1387131"/>
                    <a:pt x="1301073" y="1387131"/>
                  </a:cubicBezTo>
                  <a:lnTo>
                    <a:pt x="35885" y="1387131"/>
                  </a:lnTo>
                  <a:cubicBezTo>
                    <a:pt x="26368" y="1387131"/>
                    <a:pt x="17240" y="1383351"/>
                    <a:pt x="10511" y="1376621"/>
                  </a:cubicBezTo>
                  <a:cubicBezTo>
                    <a:pt x="3781" y="1369891"/>
                    <a:pt x="0" y="1360764"/>
                    <a:pt x="0" y="1351246"/>
                  </a:cubicBezTo>
                  <a:lnTo>
                    <a:pt x="0" y="35885"/>
                  </a:lnTo>
                  <a:cubicBezTo>
                    <a:pt x="0" y="26368"/>
                    <a:pt x="3781" y="17240"/>
                    <a:pt x="10511" y="10511"/>
                  </a:cubicBezTo>
                  <a:cubicBezTo>
                    <a:pt x="17240" y="3781"/>
                    <a:pt x="26368" y="0"/>
                    <a:pt x="35885" y="0"/>
                  </a:cubicBezTo>
                  <a:close/>
                </a:path>
              </a:pathLst>
            </a:custGeom>
            <a:blipFill>
              <a:blip r:embed="rId4"/>
              <a:stretch>
                <a:fillRect l="-1876" t="0" r="-1876" b="0"/>
              </a:stretch>
            </a:blipFill>
            <a:ln w="28575" cap="rnd">
              <a:solidFill>
                <a:srgbClr val="FFFFFF"/>
              </a:solidFill>
              <a:prstDash val="solid"/>
              <a:round/>
            </a:ln>
          </p:spPr>
        </p:sp>
      </p:grpSp>
      <p:grpSp>
        <p:nvGrpSpPr>
          <p:cNvPr name="Group 5" id="5"/>
          <p:cNvGrpSpPr/>
          <p:nvPr/>
        </p:nvGrpSpPr>
        <p:grpSpPr>
          <a:xfrm rot="0">
            <a:off x="10734675" y="1442185"/>
            <a:ext cx="6886575" cy="3467702"/>
            <a:chOff x="0" y="0"/>
            <a:chExt cx="9182100" cy="4623603"/>
          </a:xfrm>
        </p:grpSpPr>
        <p:sp>
          <p:nvSpPr>
            <p:cNvPr name="TextBox 6" id="6"/>
            <p:cNvSpPr txBox="true"/>
            <p:nvPr/>
          </p:nvSpPr>
          <p:spPr>
            <a:xfrm rot="0">
              <a:off x="0" y="2492393"/>
              <a:ext cx="9182100" cy="2131210"/>
            </a:xfrm>
            <a:prstGeom prst="rect">
              <a:avLst/>
            </a:prstGeom>
          </p:spPr>
          <p:txBody>
            <a:bodyPr anchor="t" rtlCol="false" tIns="0" lIns="0" bIns="0" rIns="0">
              <a:spAutoFit/>
            </a:bodyPr>
            <a:lstStyle/>
            <a:p>
              <a:pPr algn="l" marL="0" indent="0" lvl="0">
                <a:lnSpc>
                  <a:spcPts val="6023"/>
                </a:lnSpc>
              </a:pPr>
              <a:r>
                <a:rPr lang="en-US" sz="6023">
                  <a:solidFill>
                    <a:srgbClr val="F2F2F2"/>
                  </a:solidFill>
                  <a:latin typeface="Gilda Display"/>
                  <a:ea typeface="Gilda Display"/>
                  <a:cs typeface="Gilda Display"/>
                  <a:sym typeface="Gilda Display"/>
                </a:rPr>
                <a:t>Tumble-POP 2D Game Development</a:t>
              </a:r>
            </a:p>
          </p:txBody>
        </p:sp>
        <p:sp>
          <p:nvSpPr>
            <p:cNvPr name="TextBox 7" id="7"/>
            <p:cNvSpPr txBox="true"/>
            <p:nvPr/>
          </p:nvSpPr>
          <p:spPr>
            <a:xfrm rot="0">
              <a:off x="0" y="1071668"/>
              <a:ext cx="9182100" cy="934085"/>
            </a:xfrm>
            <a:prstGeom prst="rect">
              <a:avLst/>
            </a:prstGeom>
          </p:spPr>
          <p:txBody>
            <a:bodyPr anchor="t" rtlCol="false" tIns="0" lIns="0" bIns="0" rIns="0">
              <a:spAutoFit/>
            </a:bodyPr>
            <a:lstStyle/>
            <a:p>
              <a:pPr algn="l" marL="0" indent="0" lvl="0">
                <a:lnSpc>
                  <a:spcPts val="5880"/>
                </a:lnSpc>
              </a:pPr>
              <a:r>
                <a:rPr lang="en-US" sz="4200">
                  <a:solidFill>
                    <a:srgbClr val="F2F2F2"/>
                  </a:solidFill>
                  <a:latin typeface="HK Grotesk Light"/>
                  <a:ea typeface="HK Grotesk Light"/>
                  <a:cs typeface="HK Grotesk Light"/>
                  <a:sym typeface="HK Grotesk Light"/>
                </a:rPr>
                <a:t>Tumble-POP Game Report</a:t>
              </a:r>
            </a:p>
          </p:txBody>
        </p:sp>
        <p:sp>
          <p:nvSpPr>
            <p:cNvPr name="TextBox 8" id="8"/>
            <p:cNvSpPr txBox="true"/>
            <p:nvPr/>
          </p:nvSpPr>
          <p:spPr>
            <a:xfrm rot="0">
              <a:off x="0" y="-47625"/>
              <a:ext cx="9182100" cy="493818"/>
            </a:xfrm>
            <a:prstGeom prst="rect">
              <a:avLst/>
            </a:prstGeom>
          </p:spPr>
          <p:txBody>
            <a:bodyPr anchor="t" rtlCol="false" tIns="0" lIns="0" bIns="0" rIns="0">
              <a:spAutoFit/>
            </a:bodyPr>
            <a:lstStyle/>
            <a:p>
              <a:pPr algn="l" marL="0" indent="0" lvl="0">
                <a:lnSpc>
                  <a:spcPts val="3079"/>
                </a:lnSpc>
              </a:pPr>
              <a:r>
                <a:rPr lang="en-US" sz="2199">
                  <a:solidFill>
                    <a:srgbClr val="F2F2F2"/>
                  </a:solidFill>
                  <a:latin typeface="HK Grotesk Light"/>
                  <a:ea typeface="HK Grotesk Light"/>
                  <a:cs typeface="HK Grotesk Light"/>
                  <a:sym typeface="HK Grotesk Light"/>
                </a:rPr>
                <a:t>December 7, 2025</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sp>
        <p:nvSpPr>
          <p:cNvPr name="Freeform 2" id="2"/>
          <p:cNvSpPr/>
          <p:nvPr/>
        </p:nvSpPr>
        <p:spPr>
          <a:xfrm flipH="false" flipV="false" rot="-1268288">
            <a:off x="14795639" y="5873497"/>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268288">
            <a:off x="-6005389" y="-6781594"/>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2105025" y="4419600"/>
            <a:ext cx="12639675" cy="1166494"/>
          </a:xfrm>
          <a:prstGeom prst="rect">
            <a:avLst/>
          </a:prstGeom>
        </p:spPr>
        <p:txBody>
          <a:bodyPr anchor="t" rtlCol="false" tIns="0" lIns="0" bIns="0" rIns="0">
            <a:spAutoFit/>
          </a:bodyPr>
          <a:lstStyle/>
          <a:p>
            <a:pPr algn="l" marL="0" indent="0" lvl="0">
              <a:lnSpc>
                <a:spcPts val="8799"/>
              </a:lnSpc>
            </a:pPr>
            <a:r>
              <a:rPr lang="en-US" sz="8799">
                <a:solidFill>
                  <a:srgbClr val="F2F2F2"/>
                </a:solidFill>
                <a:latin typeface="Gilda Display"/>
                <a:ea typeface="Gilda Display"/>
                <a:cs typeface="Gilda Display"/>
                <a:sym typeface="Gilda Display"/>
              </a:rPr>
              <a:t>Section 1: 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grpSp>
        <p:nvGrpSpPr>
          <p:cNvPr name="Group 2" id="2"/>
          <p:cNvGrpSpPr/>
          <p:nvPr/>
        </p:nvGrpSpPr>
        <p:grpSpPr>
          <a:xfrm rot="0">
            <a:off x="2105025" y="2011697"/>
            <a:ext cx="12639675" cy="5896008"/>
            <a:chOff x="0" y="0"/>
            <a:chExt cx="16852900" cy="7861344"/>
          </a:xfrm>
        </p:grpSpPr>
        <p:sp>
          <p:nvSpPr>
            <p:cNvPr name="TextBox 3" id="3"/>
            <p:cNvSpPr txBox="true"/>
            <p:nvPr/>
          </p:nvSpPr>
          <p:spPr>
            <a:xfrm rot="0">
              <a:off x="0" y="171450"/>
              <a:ext cx="16852900" cy="1612476"/>
            </a:xfrm>
            <a:prstGeom prst="rect">
              <a:avLst/>
            </a:prstGeom>
          </p:spPr>
          <p:txBody>
            <a:bodyPr anchor="t" rtlCol="false" tIns="0" lIns="0" bIns="0" rIns="0">
              <a:spAutoFit/>
            </a:bodyPr>
            <a:lstStyle/>
            <a:p>
              <a:pPr algn="l" marL="0" indent="0" lvl="0">
                <a:lnSpc>
                  <a:spcPts val="8799"/>
                </a:lnSpc>
              </a:pPr>
              <a:r>
                <a:rPr lang="en-US" sz="8799">
                  <a:solidFill>
                    <a:srgbClr val="F2F2F2"/>
                  </a:solidFill>
                  <a:latin typeface="Gilda Display"/>
                  <a:ea typeface="Gilda Display"/>
                  <a:cs typeface="Gilda Display"/>
                  <a:sym typeface="Gilda Display"/>
                </a:rPr>
                <a:t>Project Overview</a:t>
              </a:r>
            </a:p>
          </p:txBody>
        </p:sp>
        <p:sp>
          <p:nvSpPr>
            <p:cNvPr name="TextBox 4" id="4"/>
            <p:cNvSpPr txBox="true"/>
            <p:nvPr/>
          </p:nvSpPr>
          <p:spPr>
            <a:xfrm rot="0">
              <a:off x="0" y="3251244"/>
              <a:ext cx="16852900" cy="4610100"/>
            </a:xfrm>
            <a:prstGeom prst="rect">
              <a:avLst/>
            </a:prstGeom>
          </p:spPr>
          <p:txBody>
            <a:bodyPr anchor="t" rtlCol="false" tIns="0" lIns="0" bIns="0" rIns="0">
              <a:spAutoFit/>
            </a:bodyPr>
            <a:lstStyle/>
            <a:p>
              <a:pPr algn="l" marL="0" indent="0" lvl="0">
                <a:lnSpc>
                  <a:spcPts val="3900"/>
                </a:lnSpc>
              </a:pPr>
              <a:r>
                <a:rPr lang="en-US" sz="3000">
                  <a:solidFill>
                    <a:srgbClr val="F2F2F2"/>
                  </a:solidFill>
                  <a:latin typeface="HK Grotesk Light"/>
                  <a:ea typeface="HK Grotesk Light"/>
                  <a:cs typeface="HK Grotesk Light"/>
                  <a:sym typeface="HK Grotesk Light"/>
                </a:rPr>
                <a:t>Tumble-POP is a 2D arcade-style action platformer developed using C++ and the SFML library. The game puts the player in the shoes of a "Ghostbuster" character equipped with a vacuum device. The primary objective is to clear stages by sucking up various monsters Skeletons, Ghosts, and projectile-firing enemies and ejecting them, all while navigating complex environmental hazards.</a:t>
              </a:r>
            </a:p>
            <a:p>
              <a:pPr algn="l" marL="0" indent="0" lvl="0">
                <a:lnSpc>
                  <a:spcPts val="3900"/>
                </a:lnSpc>
              </a:pPr>
            </a:p>
          </p:txBody>
        </p:sp>
        <p:sp>
          <p:nvSpPr>
            <p:cNvPr name="TextBox 5" id="5"/>
            <p:cNvSpPr txBox="true"/>
            <p:nvPr/>
          </p:nvSpPr>
          <p:spPr>
            <a:xfrm rot="0">
              <a:off x="0" y="2222310"/>
              <a:ext cx="16852900" cy="619125"/>
            </a:xfrm>
            <a:prstGeom prst="rect">
              <a:avLst/>
            </a:prstGeom>
          </p:spPr>
          <p:txBody>
            <a:bodyPr anchor="t" rtlCol="false" tIns="0" lIns="0" bIns="0" rIns="0">
              <a:spAutoFit/>
            </a:bodyPr>
            <a:lstStyle/>
            <a:p>
              <a:pPr algn="l" marL="0" indent="0" lvl="0">
                <a:lnSpc>
                  <a:spcPts val="3600"/>
                </a:lnSpc>
              </a:pPr>
              <a:r>
                <a:rPr lang="en-US" b="true" sz="3000">
                  <a:solidFill>
                    <a:srgbClr val="F2F2F2"/>
                  </a:solidFill>
                  <a:latin typeface="HK Grotesk Bold"/>
                  <a:ea typeface="HK Grotesk Bold"/>
                  <a:cs typeface="HK Grotesk Bold"/>
                  <a:sym typeface="HK Grotesk Bold"/>
                </a:rPr>
                <a:t>An engaging 2D game development report</a:t>
              </a:r>
            </a:p>
          </p:txBody>
        </p:sp>
      </p:grpSp>
      <p:sp>
        <p:nvSpPr>
          <p:cNvPr name="Freeform 6" id="6"/>
          <p:cNvSpPr/>
          <p:nvPr/>
        </p:nvSpPr>
        <p:spPr>
          <a:xfrm flipH="false" flipV="false" rot="-1268288">
            <a:off x="14795639" y="5873497"/>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sp>
        <p:nvSpPr>
          <p:cNvPr name="Freeform 2" id="2"/>
          <p:cNvSpPr/>
          <p:nvPr/>
        </p:nvSpPr>
        <p:spPr>
          <a:xfrm flipH="false" flipV="false" rot="-1268288">
            <a:off x="14795639" y="5873497"/>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268288">
            <a:off x="-6005389" y="-6781594"/>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2105025" y="4419600"/>
            <a:ext cx="12639675" cy="1166494"/>
          </a:xfrm>
          <a:prstGeom prst="rect">
            <a:avLst/>
          </a:prstGeom>
        </p:spPr>
        <p:txBody>
          <a:bodyPr anchor="t" rtlCol="false" tIns="0" lIns="0" bIns="0" rIns="0">
            <a:spAutoFit/>
          </a:bodyPr>
          <a:lstStyle/>
          <a:p>
            <a:pPr algn="l" marL="0" indent="0" lvl="0">
              <a:lnSpc>
                <a:spcPts val="8799"/>
              </a:lnSpc>
            </a:pPr>
            <a:r>
              <a:rPr lang="en-US" sz="8799">
                <a:solidFill>
                  <a:srgbClr val="F2F2F2"/>
                </a:solidFill>
                <a:latin typeface="Gilda Display"/>
                <a:ea typeface="Gilda Display"/>
                <a:cs typeface="Gilda Display"/>
                <a:sym typeface="Gilda Display"/>
              </a:rPr>
              <a:t>Gameplay Overview</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sp>
        <p:nvSpPr>
          <p:cNvPr name="Freeform 2" id="2"/>
          <p:cNvSpPr/>
          <p:nvPr/>
        </p:nvSpPr>
        <p:spPr>
          <a:xfrm flipH="false" flipV="false" rot="0">
            <a:off x="11150740" y="351718"/>
            <a:ext cx="6108560" cy="4685281"/>
          </a:xfrm>
          <a:custGeom>
            <a:avLst/>
            <a:gdLst/>
            <a:ahLst/>
            <a:cxnLst/>
            <a:rect r="r" b="b" t="t" l="l"/>
            <a:pathLst>
              <a:path h="4685281" w="6108560">
                <a:moveTo>
                  <a:pt x="0" y="0"/>
                </a:moveTo>
                <a:lnTo>
                  <a:pt x="6108560" y="0"/>
                </a:lnTo>
                <a:lnTo>
                  <a:pt x="6108560" y="4685281"/>
                </a:lnTo>
                <a:lnTo>
                  <a:pt x="0" y="4685281"/>
                </a:lnTo>
                <a:lnTo>
                  <a:pt x="0" y="0"/>
                </a:lnTo>
                <a:close/>
              </a:path>
            </a:pathLst>
          </a:custGeom>
          <a:blipFill>
            <a:blip r:embed="rId2"/>
            <a:stretch>
              <a:fillRect l="0" t="0" r="0" b="0"/>
            </a:stretch>
          </a:blipFill>
        </p:spPr>
      </p:sp>
      <p:sp>
        <p:nvSpPr>
          <p:cNvPr name="Freeform 3" id="3"/>
          <p:cNvSpPr/>
          <p:nvPr/>
        </p:nvSpPr>
        <p:spPr>
          <a:xfrm flipH="false" flipV="false" rot="0">
            <a:off x="11150740" y="5349505"/>
            <a:ext cx="6108560" cy="4390726"/>
          </a:xfrm>
          <a:custGeom>
            <a:avLst/>
            <a:gdLst/>
            <a:ahLst/>
            <a:cxnLst/>
            <a:rect r="r" b="b" t="t" l="l"/>
            <a:pathLst>
              <a:path h="4390726" w="6108560">
                <a:moveTo>
                  <a:pt x="0" y="0"/>
                </a:moveTo>
                <a:lnTo>
                  <a:pt x="6108560" y="0"/>
                </a:lnTo>
                <a:lnTo>
                  <a:pt x="6108560" y="4390726"/>
                </a:lnTo>
                <a:lnTo>
                  <a:pt x="0" y="4390726"/>
                </a:lnTo>
                <a:lnTo>
                  <a:pt x="0" y="0"/>
                </a:lnTo>
                <a:close/>
              </a:path>
            </a:pathLst>
          </a:custGeom>
          <a:blipFill>
            <a:blip r:embed="rId3"/>
            <a:stretch>
              <a:fillRect l="-22096" t="0" r="-12569" b="0"/>
            </a:stretch>
          </a:blipFill>
        </p:spPr>
      </p:sp>
      <p:grpSp>
        <p:nvGrpSpPr>
          <p:cNvPr name="Group 4" id="4"/>
          <p:cNvGrpSpPr/>
          <p:nvPr/>
        </p:nvGrpSpPr>
        <p:grpSpPr>
          <a:xfrm rot="0">
            <a:off x="612436" y="351718"/>
            <a:ext cx="8886384" cy="9576326"/>
            <a:chOff x="0" y="0"/>
            <a:chExt cx="11848512" cy="12768434"/>
          </a:xfrm>
        </p:grpSpPr>
        <p:sp>
          <p:nvSpPr>
            <p:cNvPr name="TextBox 5" id="5"/>
            <p:cNvSpPr txBox="true"/>
            <p:nvPr/>
          </p:nvSpPr>
          <p:spPr>
            <a:xfrm rot="0">
              <a:off x="0" y="3235421"/>
              <a:ext cx="11848512" cy="9533013"/>
            </a:xfrm>
            <a:prstGeom prst="rect">
              <a:avLst/>
            </a:prstGeom>
          </p:spPr>
          <p:txBody>
            <a:bodyPr anchor="t" rtlCol="false" tIns="0" lIns="0" bIns="0" rIns="0">
              <a:spAutoFit/>
            </a:bodyPr>
            <a:lstStyle/>
            <a:p>
              <a:pPr algn="l" marL="0" indent="0" lvl="0">
                <a:lnSpc>
                  <a:spcPts val="3528"/>
                </a:lnSpc>
              </a:pPr>
              <a:r>
                <a:rPr lang="en-US" sz="2714">
                  <a:solidFill>
                    <a:srgbClr val="F2F2F2"/>
                  </a:solidFill>
                  <a:latin typeface="HK Grotesk Light"/>
                  <a:ea typeface="HK Grotesk Light"/>
                  <a:cs typeface="HK Grotesk Light"/>
                  <a:sym typeface="HK Grotesk Light"/>
                </a:rPr>
                <a:t>te a vis</a:t>
              </a:r>
              <a:r>
                <a:rPr lang="en-US" sz="2714">
                  <a:solidFill>
                    <a:srgbClr val="F2F2F2"/>
                  </a:solidFill>
                  <a:latin typeface="HK Grotesk Light"/>
                  <a:ea typeface="HK Grotesk Light"/>
                  <a:cs typeface="HK Grotesk Light"/>
                  <a:sym typeface="HK Grotesk Light"/>
                </a:rPr>
                <a:t>ually engaging and functional game, the following tools were utilized:</a:t>
              </a:r>
            </a:p>
            <a:p>
              <a:pPr algn="l" marL="586013" indent="-293007" lvl="1">
                <a:lnSpc>
                  <a:spcPts val="3528"/>
                </a:lnSpc>
                <a:buFont typeface="Arial"/>
                <a:buChar char="•"/>
              </a:pPr>
              <a:r>
                <a:rPr lang="en-US" b="true" sz="2714">
                  <a:solidFill>
                    <a:srgbClr val="F2F2F2"/>
                  </a:solidFill>
                  <a:latin typeface="HK Grotesk Bold"/>
                  <a:ea typeface="HK Grotesk Bold"/>
                  <a:cs typeface="HK Grotesk Bold"/>
                  <a:sym typeface="HK Grotesk Bold"/>
                </a:rPr>
                <a:t>Programming Language: C++</a:t>
              </a:r>
              <a:r>
                <a:rPr lang="en-US" sz="2714">
                  <a:solidFill>
                    <a:srgbClr val="F2F2F2"/>
                  </a:solidFill>
                  <a:latin typeface="HK Grotesk Light"/>
                  <a:ea typeface="HK Grotesk Light"/>
                  <a:cs typeface="HK Grotesk Light"/>
                  <a:sym typeface="HK Grotesk Light"/>
                </a:rPr>
                <a:t> (Standard 11/17).</a:t>
              </a:r>
            </a:p>
            <a:p>
              <a:pPr algn="l" marL="586013" indent="-293007" lvl="1">
                <a:lnSpc>
                  <a:spcPts val="3528"/>
                </a:lnSpc>
                <a:buFont typeface="Arial"/>
                <a:buChar char="•"/>
              </a:pPr>
              <a:r>
                <a:rPr lang="en-US" sz="2714">
                  <a:solidFill>
                    <a:srgbClr val="F2F2F2"/>
                  </a:solidFill>
                  <a:latin typeface="HK Grotesk Light"/>
                  <a:ea typeface="HK Grotesk Light"/>
                  <a:cs typeface="HK Grotesk Light"/>
                  <a:sym typeface="HK Grotesk Light"/>
                </a:rPr>
                <a:t>Graphics Library: SFML (Simple and Fast Multimedia Library) for rendering graphics, window management, and input handling.</a:t>
              </a:r>
            </a:p>
            <a:p>
              <a:pPr algn="l" marL="586013" indent="-293007" lvl="1">
                <a:lnSpc>
                  <a:spcPts val="3528"/>
                </a:lnSpc>
                <a:buFont typeface="Arial"/>
                <a:buChar char="•"/>
              </a:pPr>
              <a:r>
                <a:rPr lang="en-US" sz="2714">
                  <a:solidFill>
                    <a:srgbClr val="F2F2F2"/>
                  </a:solidFill>
                  <a:latin typeface="HK Grotesk Light"/>
                  <a:ea typeface="HK Grotesk Light"/>
                  <a:cs typeface="HK Grotesk Light"/>
                  <a:sym typeface="HK Grotesk Light"/>
                </a:rPr>
                <a:t>Integrated Development Environment (IDE): Visual Studio / VS Code.</a:t>
              </a:r>
            </a:p>
            <a:p>
              <a:pPr algn="l" marL="586013" indent="-293007" lvl="1">
                <a:lnSpc>
                  <a:spcPts val="3528"/>
                </a:lnSpc>
                <a:buFont typeface="Arial"/>
                <a:buChar char="•"/>
              </a:pPr>
              <a:r>
                <a:rPr lang="en-US" sz="2714">
                  <a:solidFill>
                    <a:srgbClr val="F2F2F2"/>
                  </a:solidFill>
                  <a:latin typeface="HK Grotesk Light"/>
                  <a:ea typeface="HK Grotesk Light"/>
                  <a:cs typeface="HK Grotesk Light"/>
                  <a:sym typeface="HK Grotesk Light"/>
                </a:rPr>
                <a:t>Asset Management:</a:t>
              </a:r>
            </a:p>
            <a:p>
              <a:pPr algn="l" marL="1172026" indent="-390675" lvl="2">
                <a:lnSpc>
                  <a:spcPts val="3528"/>
                </a:lnSpc>
                <a:buFont typeface="Arial"/>
                <a:buChar char="⚬"/>
              </a:pPr>
              <a:r>
                <a:rPr lang="en-US" b="true" sz="2714">
                  <a:solidFill>
                    <a:srgbClr val="F2F2F2"/>
                  </a:solidFill>
                  <a:latin typeface="HK Grotesk Bold"/>
                  <a:ea typeface="HK Grotesk Bold"/>
                  <a:cs typeface="HK Grotesk Bold"/>
                  <a:sym typeface="HK Grotesk Bold"/>
                </a:rPr>
                <a:t>Leshy SpriteSheet Tool:</a:t>
              </a:r>
              <a:r>
                <a:rPr lang="en-US" sz="2714">
                  <a:solidFill>
                    <a:srgbClr val="F2F2F2"/>
                  </a:solidFill>
                  <a:latin typeface="HK Grotesk Light"/>
                  <a:ea typeface="HK Grotesk Light"/>
                  <a:cs typeface="HK Grotesk Light"/>
                  <a:sym typeface="HK Grotesk Light"/>
                </a:rPr>
                <a:t> Used to map sprite sheets and calculate the exact IntRect coordinates (x, y, width, height) required for character and enemy animations.</a:t>
              </a:r>
            </a:p>
            <a:p>
              <a:pPr algn="l" marL="1172026" indent="-390675" lvl="2">
                <a:lnSpc>
                  <a:spcPts val="3528"/>
                </a:lnSpc>
                <a:buFont typeface="Arial"/>
                <a:buChar char="⚬"/>
              </a:pPr>
              <a:r>
                <a:rPr lang="en-US" b="true" sz="2714">
                  <a:solidFill>
                    <a:srgbClr val="F2F2F2"/>
                  </a:solidFill>
                  <a:latin typeface="HK Grotesk Bold"/>
                  <a:ea typeface="HK Grotesk Bold"/>
                  <a:cs typeface="HK Grotesk Bold"/>
                  <a:sym typeface="HK Grotesk Bold"/>
                </a:rPr>
                <a:t>Banana Pro:</a:t>
              </a:r>
              <a:r>
                <a:rPr lang="en-US" sz="2714">
                  <a:solidFill>
                    <a:srgbClr val="F2F2F2"/>
                  </a:solidFill>
                  <a:latin typeface="HK Grotesk Light"/>
                  <a:ea typeface="HK Grotesk Light"/>
                  <a:cs typeface="HK Grotesk Light"/>
                  <a:sym typeface="HK Grotesk Light"/>
                </a:rPr>
                <a:t> Used for generating high-quality 2D aesthetic assets and background art.</a:t>
              </a:r>
            </a:p>
            <a:p>
              <a:pPr algn="l" marL="0" indent="0" lvl="0">
                <a:lnSpc>
                  <a:spcPts val="3528"/>
                </a:lnSpc>
              </a:pPr>
            </a:p>
          </p:txBody>
        </p:sp>
        <p:sp>
          <p:nvSpPr>
            <p:cNvPr name="TextBox 6" id="6"/>
            <p:cNvSpPr txBox="true"/>
            <p:nvPr/>
          </p:nvSpPr>
          <p:spPr>
            <a:xfrm rot="0">
              <a:off x="0" y="133350"/>
              <a:ext cx="9295529" cy="2604966"/>
            </a:xfrm>
            <a:prstGeom prst="rect">
              <a:avLst/>
            </a:prstGeom>
          </p:spPr>
          <p:txBody>
            <a:bodyPr anchor="t" rtlCol="false" tIns="0" lIns="0" bIns="0" rIns="0">
              <a:spAutoFit/>
            </a:bodyPr>
            <a:lstStyle/>
            <a:p>
              <a:pPr algn="l" marL="0" indent="0" lvl="0">
                <a:lnSpc>
                  <a:spcPts val="7369"/>
                </a:lnSpc>
              </a:pPr>
              <a:r>
                <a:rPr lang="en-US" sz="7369">
                  <a:solidFill>
                    <a:srgbClr val="F2F2F2"/>
                  </a:solidFill>
                  <a:latin typeface="Gilda Display"/>
                  <a:ea typeface="Gilda Display"/>
                  <a:cs typeface="Gilda Display"/>
                  <a:sym typeface="Gilda Display"/>
                </a:rPr>
                <a:t>2. Te</a:t>
              </a:r>
              <a:r>
                <a:rPr lang="en-US" sz="7369">
                  <a:solidFill>
                    <a:srgbClr val="F2F2F2"/>
                  </a:solidFill>
                  <a:latin typeface="Gilda Display"/>
                  <a:ea typeface="Gilda Display"/>
                  <a:cs typeface="Gilda Display"/>
                  <a:sym typeface="Gilda Display"/>
                </a:rPr>
                <a:t>chnologies and Tools Used</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sp>
        <p:nvSpPr>
          <p:cNvPr name="Freeform 2" id="2"/>
          <p:cNvSpPr/>
          <p:nvPr/>
        </p:nvSpPr>
        <p:spPr>
          <a:xfrm flipH="false" flipV="false" rot="-1268288">
            <a:off x="14795639" y="5873497"/>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268288">
            <a:off x="-6005389" y="-6781594"/>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2023382" y="1123950"/>
            <a:ext cx="7455735" cy="2008686"/>
          </a:xfrm>
          <a:prstGeom prst="rect">
            <a:avLst/>
          </a:prstGeom>
        </p:spPr>
        <p:txBody>
          <a:bodyPr anchor="t" rtlCol="false" tIns="0" lIns="0" bIns="0" rIns="0">
            <a:spAutoFit/>
          </a:bodyPr>
          <a:lstStyle/>
          <a:p>
            <a:pPr algn="l" marL="0" indent="0" lvl="0">
              <a:lnSpc>
                <a:spcPts val="5190"/>
              </a:lnSpc>
            </a:pPr>
            <a:r>
              <a:rPr lang="en-US" sz="5190">
                <a:solidFill>
                  <a:srgbClr val="F2F2F2"/>
                </a:solidFill>
                <a:latin typeface="Gilda Display"/>
                <a:ea typeface="Gilda Display"/>
                <a:cs typeface="Gilda Display"/>
                <a:sym typeface="Gilda Display"/>
              </a:rPr>
              <a:t>3. Syst</a:t>
            </a:r>
            <a:r>
              <a:rPr lang="en-US" sz="5190">
                <a:solidFill>
                  <a:srgbClr val="F2F2F2"/>
                </a:solidFill>
                <a:latin typeface="Gilda Display"/>
                <a:ea typeface="Gilda Display"/>
                <a:cs typeface="Gilda Display"/>
                <a:sym typeface="Gilda Display"/>
              </a:rPr>
              <a:t>em Architecture &amp; Data Structure</a:t>
            </a:r>
          </a:p>
          <a:p>
            <a:pPr algn="l" marL="0" indent="0" lvl="0">
              <a:lnSpc>
                <a:spcPts val="5190"/>
              </a:lnSpc>
            </a:pPr>
          </a:p>
        </p:txBody>
      </p:sp>
      <p:sp>
        <p:nvSpPr>
          <p:cNvPr name="TextBox 5" id="5"/>
          <p:cNvSpPr txBox="true"/>
          <p:nvPr/>
        </p:nvSpPr>
        <p:spPr>
          <a:xfrm rot="0">
            <a:off x="671512" y="3189786"/>
            <a:ext cx="16944975" cy="4531089"/>
          </a:xfrm>
          <a:prstGeom prst="rect">
            <a:avLst/>
          </a:prstGeom>
        </p:spPr>
        <p:txBody>
          <a:bodyPr anchor="t" rtlCol="false" tIns="0" lIns="0" bIns="0" rIns="0">
            <a:spAutoFit/>
          </a:bodyPr>
          <a:lstStyle/>
          <a:p>
            <a:pPr algn="just">
              <a:lnSpc>
                <a:spcPts val="3264"/>
              </a:lnSpc>
              <a:spcBef>
                <a:spcPct val="0"/>
              </a:spcBef>
            </a:pPr>
            <a:r>
              <a:rPr lang="en-US" b="true" sz="3264">
                <a:solidFill>
                  <a:srgbClr val="F2F2F2"/>
                </a:solidFill>
                <a:latin typeface="HK Grotesk Bold"/>
                <a:ea typeface="HK Grotesk Bold"/>
                <a:cs typeface="HK Grotesk Bold"/>
                <a:sym typeface="HK Grotesk Bold"/>
              </a:rPr>
              <a:t>3.1. Entity Management</a:t>
            </a:r>
          </a:p>
          <a:p>
            <a:pPr algn="just">
              <a:lnSpc>
                <a:spcPts val="3264"/>
              </a:lnSpc>
              <a:spcBef>
                <a:spcPct val="0"/>
              </a:spcBef>
            </a:pPr>
          </a:p>
          <a:p>
            <a:pPr algn="just">
              <a:lnSpc>
                <a:spcPts val="3264"/>
              </a:lnSpc>
              <a:spcBef>
                <a:spcPct val="0"/>
              </a:spcBef>
            </a:pPr>
            <a:r>
              <a:rPr lang="en-US" sz="3264">
                <a:solidFill>
                  <a:srgbClr val="F2F2F2"/>
                </a:solidFill>
                <a:latin typeface="HK Grotesk"/>
                <a:ea typeface="HK Grotesk"/>
                <a:cs typeface="HK Grotesk"/>
                <a:sym typeface="HK Grotesk"/>
              </a:rPr>
              <a:t>Instead of a single object for an enemy, data is split across multiple arrays sharing the same index [i]. For example, the Invisible Man enemy uses:</a:t>
            </a:r>
          </a:p>
          <a:p>
            <a:pPr algn="just">
              <a:lnSpc>
                <a:spcPts val="3264"/>
              </a:lnSpc>
              <a:spcBef>
                <a:spcPct val="0"/>
              </a:spcBef>
            </a:pPr>
            <a:r>
              <a:rPr lang="en-US" sz="3264">
                <a:solidFill>
                  <a:srgbClr val="F2F2F2"/>
                </a:solidFill>
                <a:latin typeface="HK Grotesk"/>
                <a:ea typeface="HK Grotesk"/>
                <a:cs typeface="HK Grotesk"/>
                <a:sym typeface="HK Grotesk"/>
              </a:rPr>
              <a:t>const int NUM_INVISIBLE = 3;</a:t>
            </a:r>
          </a:p>
          <a:p>
            <a:pPr algn="just">
              <a:lnSpc>
                <a:spcPts val="3264"/>
              </a:lnSpc>
              <a:spcBef>
                <a:spcPct val="0"/>
              </a:spcBef>
            </a:pPr>
            <a:r>
              <a:rPr lang="en-US" sz="3264">
                <a:solidFill>
                  <a:srgbClr val="F2F2F2"/>
                </a:solidFill>
                <a:latin typeface="HK Grotesk"/>
                <a:ea typeface="HK Grotesk"/>
                <a:cs typeface="HK Grotesk"/>
                <a:sym typeface="HK Grotesk"/>
              </a:rPr>
              <a:t>float inv_x[NUM_INVISIBLE];     // X Coordinate</a:t>
            </a:r>
          </a:p>
          <a:p>
            <a:pPr algn="just">
              <a:lnSpc>
                <a:spcPts val="3264"/>
              </a:lnSpc>
              <a:spcBef>
                <a:spcPct val="0"/>
              </a:spcBef>
            </a:pPr>
            <a:r>
              <a:rPr lang="en-US" sz="3264">
                <a:solidFill>
                  <a:srgbClr val="F2F2F2"/>
                </a:solidFill>
                <a:latin typeface="HK Grotesk"/>
                <a:ea typeface="HK Grotesk"/>
                <a:cs typeface="HK Grotesk"/>
                <a:sym typeface="HK Grotesk"/>
              </a:rPr>
              <a:t>float inv_y[NUM_INVISIBLE];     // Y Coordinate</a:t>
            </a:r>
          </a:p>
          <a:p>
            <a:pPr algn="just">
              <a:lnSpc>
                <a:spcPts val="3264"/>
              </a:lnSpc>
              <a:spcBef>
                <a:spcPct val="0"/>
              </a:spcBef>
            </a:pPr>
            <a:r>
              <a:rPr lang="en-US" sz="3264">
                <a:solidFill>
                  <a:srgbClr val="F2F2F2"/>
                </a:solidFill>
                <a:latin typeface="HK Grotesk"/>
                <a:ea typeface="HK Grotesk"/>
                <a:cs typeface="HK Grotesk"/>
                <a:sym typeface="HK Grotesk"/>
              </a:rPr>
              <a:t>float inv_speed[NUM_INVISIBLE];   // Movement speed</a:t>
            </a:r>
          </a:p>
          <a:p>
            <a:pPr algn="just">
              <a:lnSpc>
                <a:spcPts val="3264"/>
              </a:lnSpc>
              <a:spcBef>
                <a:spcPct val="0"/>
              </a:spcBef>
            </a:pPr>
            <a:r>
              <a:rPr lang="en-US" sz="3264">
                <a:solidFill>
                  <a:srgbClr val="F2F2F2"/>
                </a:solidFill>
                <a:latin typeface="HK Grotesk"/>
                <a:ea typeface="HK Grotesk"/>
                <a:cs typeface="HK Grotesk"/>
                <a:sym typeface="HK Grotesk"/>
              </a:rPr>
              <a:t>int inv_capture_state[NUM_INVISIBLE]; // 0=Walking, 1=Being Sucked, 2=Dead</a:t>
            </a:r>
          </a:p>
          <a:p>
            <a:pPr algn="just">
              <a:lnSpc>
                <a:spcPts val="3264"/>
              </a:lnSpc>
              <a:spcBef>
                <a:spcPct val="0"/>
              </a:spcBef>
            </a:pPr>
            <a:r>
              <a:rPr lang="en-US" sz="3264">
                <a:solidFill>
                  <a:srgbClr val="F2F2F2"/>
                </a:solidFill>
                <a:latin typeface="HK Grotesk"/>
                <a:ea typeface="HK Grotesk"/>
                <a:cs typeface="HK Grotesk"/>
                <a:sym typeface="HK Grotesk"/>
              </a:rPr>
              <a:t>bool inv_is_visible[NUM_INVISIBLE]; // Visibility flag</a:t>
            </a:r>
          </a:p>
          <a:p>
            <a:pPr algn="just">
              <a:lnSpc>
                <a:spcPts val="3264"/>
              </a:lnSpc>
              <a:spcBef>
                <a:spcPct val="0"/>
              </a:spcBef>
            </a:pPr>
            <a:r>
              <a:rPr lang="en-US" sz="3264">
                <a:solidFill>
                  <a:srgbClr val="F2F2F2"/>
                </a:solidFill>
                <a:latin typeface="HK Grotesk"/>
                <a:ea typeface="HK Grotesk"/>
                <a:cs typeface="HK Grotesk"/>
                <a:sym typeface="HK Grotesk"/>
              </a:rPr>
              <a:t>ragraph text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grpSp>
        <p:nvGrpSpPr>
          <p:cNvPr name="Group 2" id="2"/>
          <p:cNvGrpSpPr/>
          <p:nvPr/>
        </p:nvGrpSpPr>
        <p:grpSpPr>
          <a:xfrm rot="0">
            <a:off x="1949493" y="1372841"/>
            <a:ext cx="13529993" cy="7010433"/>
            <a:chOff x="0" y="0"/>
            <a:chExt cx="18039990" cy="9347244"/>
          </a:xfrm>
        </p:grpSpPr>
        <p:sp>
          <p:nvSpPr>
            <p:cNvPr name="TextBox 3" id="3"/>
            <p:cNvSpPr txBox="true"/>
            <p:nvPr/>
          </p:nvSpPr>
          <p:spPr>
            <a:xfrm rot="0">
              <a:off x="1187090" y="171450"/>
              <a:ext cx="16852900" cy="3098376"/>
            </a:xfrm>
            <a:prstGeom prst="rect">
              <a:avLst/>
            </a:prstGeom>
          </p:spPr>
          <p:txBody>
            <a:bodyPr anchor="t" rtlCol="false" tIns="0" lIns="0" bIns="0" rIns="0">
              <a:spAutoFit/>
            </a:bodyPr>
            <a:lstStyle/>
            <a:p>
              <a:pPr algn="l" marL="0" indent="0" lvl="0">
                <a:lnSpc>
                  <a:spcPts val="8799"/>
                </a:lnSpc>
              </a:pPr>
              <a:r>
                <a:rPr lang="en-US" sz="8799">
                  <a:solidFill>
                    <a:srgbClr val="F2F2F2"/>
                  </a:solidFill>
                  <a:latin typeface="Gilda Display"/>
                  <a:ea typeface="Gilda Display"/>
                  <a:cs typeface="Gilda Display"/>
                  <a:sym typeface="Gilda Display"/>
                </a:rPr>
                <a:t>3.2. Gam</a:t>
              </a:r>
              <a:r>
                <a:rPr lang="en-US" sz="8799">
                  <a:solidFill>
                    <a:srgbClr val="F2F2F2"/>
                  </a:solidFill>
                  <a:latin typeface="Gilda Display"/>
                  <a:ea typeface="Gilda Display"/>
                  <a:cs typeface="Gilda Display"/>
                  <a:sym typeface="Gilda Display"/>
                </a:rPr>
                <a:t>e State Machine</a:t>
              </a:r>
            </a:p>
            <a:p>
              <a:pPr algn="l" marL="0" indent="0" lvl="0">
                <a:lnSpc>
                  <a:spcPts val="8799"/>
                </a:lnSpc>
              </a:pPr>
            </a:p>
          </p:txBody>
        </p:sp>
        <p:sp>
          <p:nvSpPr>
            <p:cNvPr name="TextBox 4" id="4"/>
            <p:cNvSpPr txBox="true"/>
            <p:nvPr/>
          </p:nvSpPr>
          <p:spPr>
            <a:xfrm rot="0">
              <a:off x="0" y="4415100"/>
              <a:ext cx="18039990" cy="4932144"/>
            </a:xfrm>
            <a:prstGeom prst="rect">
              <a:avLst/>
            </a:prstGeom>
          </p:spPr>
          <p:txBody>
            <a:bodyPr anchor="t" rtlCol="false" tIns="0" lIns="0" bIns="0" rIns="0">
              <a:spAutoFit/>
            </a:bodyPr>
            <a:lstStyle/>
            <a:p>
              <a:pPr algn="l" marL="0" indent="0" lvl="0">
                <a:lnSpc>
                  <a:spcPts val="4174"/>
                </a:lnSpc>
              </a:pPr>
              <a:r>
                <a:rPr lang="en-US" sz="3211">
                  <a:solidFill>
                    <a:srgbClr val="F2F2F2"/>
                  </a:solidFill>
                  <a:latin typeface="HK Grotesk Light"/>
                  <a:ea typeface="HK Grotesk Light"/>
                  <a:cs typeface="HK Grotesk Light"/>
                  <a:sym typeface="HK Grotesk Light"/>
                </a:rPr>
                <a:t>The game flow is controlled by a simple integer state machine inside the main loop:</a:t>
              </a:r>
            </a:p>
            <a:p>
              <a:pPr algn="l" marL="693323" indent="-346661" lvl="1">
                <a:lnSpc>
                  <a:spcPts val="4174"/>
                </a:lnSpc>
                <a:buFont typeface="Arial"/>
                <a:buChar char="•"/>
              </a:pPr>
              <a:r>
                <a:rPr lang="en-US" sz="3211">
                  <a:solidFill>
                    <a:srgbClr val="F2F2F2"/>
                  </a:solidFill>
                  <a:latin typeface="HK Grotesk Light"/>
                  <a:ea typeface="HK Grotesk Light"/>
                  <a:cs typeface="HK Grotesk Light"/>
                  <a:sym typeface="HK Grotesk Light"/>
                </a:rPr>
                <a:t>State 0: Start Screen</a:t>
              </a:r>
            </a:p>
            <a:p>
              <a:pPr algn="l" marL="693323" indent="-346661" lvl="1">
                <a:lnSpc>
                  <a:spcPts val="4174"/>
                </a:lnSpc>
                <a:buFont typeface="Arial"/>
                <a:buChar char="•"/>
              </a:pPr>
              <a:r>
                <a:rPr lang="en-US" sz="3211">
                  <a:solidFill>
                    <a:srgbClr val="F2F2F2"/>
                  </a:solidFill>
                  <a:latin typeface="HK Grotesk Light"/>
                  <a:ea typeface="HK Grotesk Light"/>
                  <a:cs typeface="HK Grotesk Light"/>
                  <a:sym typeface="HK Grotesk Light"/>
                </a:rPr>
                <a:t>State 1: Character Select Menu (P1 / P2 selection)</a:t>
              </a:r>
            </a:p>
            <a:p>
              <a:pPr algn="l" marL="693323" indent="-346661" lvl="1">
                <a:lnSpc>
                  <a:spcPts val="4174"/>
                </a:lnSpc>
                <a:buFont typeface="Arial"/>
                <a:buChar char="•"/>
              </a:pPr>
              <a:r>
                <a:rPr lang="en-US" sz="3211">
                  <a:solidFill>
                    <a:srgbClr val="F2F2F2"/>
                  </a:solidFill>
                  <a:latin typeface="HK Grotesk Light"/>
                  <a:ea typeface="HK Grotesk Light"/>
                  <a:cs typeface="HK Grotesk Light"/>
                  <a:sym typeface="HK Grotesk Light"/>
                </a:rPr>
                <a:t>State 3: Level 1 (Standard Platforming)</a:t>
              </a:r>
            </a:p>
            <a:p>
              <a:pPr algn="l" marL="693323" indent="-346661" lvl="1">
                <a:lnSpc>
                  <a:spcPts val="4174"/>
                </a:lnSpc>
                <a:buFont typeface="Arial"/>
                <a:buChar char="•"/>
              </a:pPr>
              <a:r>
                <a:rPr lang="en-US" sz="3211">
                  <a:solidFill>
                    <a:srgbClr val="F2F2F2"/>
                  </a:solidFill>
                  <a:latin typeface="HK Grotesk Light"/>
                  <a:ea typeface="HK Grotesk Light"/>
                  <a:cs typeface="HK Grotesk Light"/>
                  <a:sym typeface="HK Grotesk Light"/>
                </a:rPr>
                <a:t>State 4: Level 2 (Advanced Physics/Slopes)</a:t>
              </a:r>
            </a:p>
            <a:p>
              <a:pPr algn="l" marL="0" indent="0" lvl="0">
                <a:lnSpc>
                  <a:spcPts val="4174"/>
                </a:lnSpc>
              </a:pPr>
              <a:r>
                <a:rPr lang="en-US" sz="3211">
                  <a:solidFill>
                    <a:srgbClr val="F2F2F2"/>
                  </a:solidFill>
                  <a:latin typeface="HK Grotesk Light"/>
                  <a:ea typeface="HK Grotesk Light"/>
                  <a:cs typeface="HK Grotesk Light"/>
                  <a:sym typeface="HK Grotesk Light"/>
                </a:rPr>
                <a:t>State 5: Game Over</a:t>
              </a:r>
            </a:p>
          </p:txBody>
        </p:sp>
      </p:grpSp>
      <p:sp>
        <p:nvSpPr>
          <p:cNvPr name="Freeform 5" id="5"/>
          <p:cNvSpPr/>
          <p:nvPr/>
        </p:nvSpPr>
        <p:spPr>
          <a:xfrm flipH="false" flipV="false" rot="-1268288">
            <a:off x="14795639" y="5873497"/>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grpSp>
        <p:nvGrpSpPr>
          <p:cNvPr name="Group 2" id="2"/>
          <p:cNvGrpSpPr/>
          <p:nvPr/>
        </p:nvGrpSpPr>
        <p:grpSpPr>
          <a:xfrm rot="0">
            <a:off x="10734675" y="666750"/>
            <a:ext cx="6984220" cy="3879248"/>
            <a:chOff x="0" y="0"/>
            <a:chExt cx="2809574" cy="1560523"/>
          </a:xfrm>
        </p:grpSpPr>
        <p:sp>
          <p:nvSpPr>
            <p:cNvPr name="Freeform 3" id="3"/>
            <p:cNvSpPr/>
            <p:nvPr/>
          </p:nvSpPr>
          <p:spPr>
            <a:xfrm flipH="false" flipV="false" rot="0">
              <a:off x="0" y="0"/>
              <a:ext cx="2809574" cy="1560523"/>
            </a:xfrm>
            <a:custGeom>
              <a:avLst/>
              <a:gdLst/>
              <a:ahLst/>
              <a:cxnLst/>
              <a:rect r="r" b="b" t="t" l="l"/>
              <a:pathLst>
                <a:path h="1560523" w="2809574">
                  <a:moveTo>
                    <a:pt x="44339" y="0"/>
                  </a:moveTo>
                  <a:lnTo>
                    <a:pt x="2765234" y="0"/>
                  </a:lnTo>
                  <a:cubicBezTo>
                    <a:pt x="2789722" y="0"/>
                    <a:pt x="2809574" y="19851"/>
                    <a:pt x="2809574" y="44339"/>
                  </a:cubicBezTo>
                  <a:lnTo>
                    <a:pt x="2809574" y="1516183"/>
                  </a:lnTo>
                  <a:cubicBezTo>
                    <a:pt x="2809574" y="1527943"/>
                    <a:pt x="2804902" y="1539221"/>
                    <a:pt x="2796587" y="1547536"/>
                  </a:cubicBezTo>
                  <a:cubicBezTo>
                    <a:pt x="2788272" y="1555851"/>
                    <a:pt x="2776994" y="1560523"/>
                    <a:pt x="2765234" y="1560523"/>
                  </a:cubicBezTo>
                  <a:lnTo>
                    <a:pt x="44339" y="1560523"/>
                  </a:lnTo>
                  <a:cubicBezTo>
                    <a:pt x="19851" y="1560523"/>
                    <a:pt x="0" y="1540671"/>
                    <a:pt x="0" y="1516183"/>
                  </a:cubicBezTo>
                  <a:lnTo>
                    <a:pt x="0" y="44339"/>
                  </a:lnTo>
                  <a:cubicBezTo>
                    <a:pt x="0" y="19851"/>
                    <a:pt x="19851" y="0"/>
                    <a:pt x="44339" y="0"/>
                  </a:cubicBezTo>
                  <a:close/>
                </a:path>
              </a:pathLst>
            </a:custGeom>
            <a:blipFill>
              <a:blip r:embed="rId2"/>
              <a:stretch>
                <a:fillRect l="0" t="-20870" r="0" b="-20870"/>
              </a:stretch>
            </a:blipFill>
            <a:ln w="19050" cap="rnd">
              <a:solidFill>
                <a:srgbClr val="432766"/>
              </a:solidFill>
              <a:prstDash val="solid"/>
              <a:round/>
            </a:ln>
          </p:spPr>
        </p:sp>
      </p:grpSp>
      <p:sp>
        <p:nvSpPr>
          <p:cNvPr name="Freeform 4" id="4"/>
          <p:cNvSpPr/>
          <p:nvPr/>
        </p:nvSpPr>
        <p:spPr>
          <a:xfrm flipH="false" flipV="false" rot="0">
            <a:off x="10734675" y="4790927"/>
            <a:ext cx="6803975" cy="4931244"/>
          </a:xfrm>
          <a:custGeom>
            <a:avLst/>
            <a:gdLst/>
            <a:ahLst/>
            <a:cxnLst/>
            <a:rect r="r" b="b" t="t" l="l"/>
            <a:pathLst>
              <a:path h="4931244" w="6803975">
                <a:moveTo>
                  <a:pt x="0" y="0"/>
                </a:moveTo>
                <a:lnTo>
                  <a:pt x="6803975" y="0"/>
                </a:lnTo>
                <a:lnTo>
                  <a:pt x="6803975" y="4931244"/>
                </a:lnTo>
                <a:lnTo>
                  <a:pt x="0" y="4931244"/>
                </a:lnTo>
                <a:lnTo>
                  <a:pt x="0" y="0"/>
                </a:lnTo>
                <a:close/>
              </a:path>
            </a:pathLst>
          </a:custGeom>
          <a:blipFill>
            <a:blip r:embed="rId3"/>
            <a:stretch>
              <a:fillRect l="0" t="-1272" r="0" b="-7604"/>
            </a:stretch>
          </a:blipFill>
        </p:spPr>
      </p:sp>
      <p:grpSp>
        <p:nvGrpSpPr>
          <p:cNvPr name="Group 5" id="5"/>
          <p:cNvGrpSpPr/>
          <p:nvPr/>
        </p:nvGrpSpPr>
        <p:grpSpPr>
          <a:xfrm rot="0">
            <a:off x="666750" y="585107"/>
            <a:ext cx="8324850" cy="8824464"/>
            <a:chOff x="0" y="0"/>
            <a:chExt cx="11099800" cy="11765952"/>
          </a:xfrm>
        </p:grpSpPr>
        <p:sp>
          <p:nvSpPr>
            <p:cNvPr name="TextBox 6" id="6"/>
            <p:cNvSpPr txBox="true"/>
            <p:nvPr/>
          </p:nvSpPr>
          <p:spPr>
            <a:xfrm rot="0">
              <a:off x="0" y="2830255"/>
              <a:ext cx="10133613" cy="8935697"/>
            </a:xfrm>
            <a:prstGeom prst="rect">
              <a:avLst/>
            </a:prstGeom>
          </p:spPr>
          <p:txBody>
            <a:bodyPr anchor="t" rtlCol="false" tIns="0" lIns="0" bIns="0" rIns="0">
              <a:spAutoFit/>
            </a:bodyPr>
            <a:lstStyle/>
            <a:p>
              <a:pPr algn="l" marL="591321" indent="-295660" lvl="1">
                <a:lnSpc>
                  <a:spcPts val="3560"/>
                </a:lnSpc>
                <a:buFont typeface="Arial"/>
                <a:buChar char="•"/>
              </a:pPr>
              <a:r>
                <a:rPr lang="en-US" b="true" sz="2738">
                  <a:solidFill>
                    <a:srgbClr val="F2F2F2"/>
                  </a:solidFill>
                  <a:latin typeface="HK Grotesk Bold"/>
                  <a:ea typeface="HK Grotesk Bold"/>
                  <a:cs typeface="HK Grotesk Bold"/>
                  <a:sym typeface="HK Grotesk Bold"/>
                </a:rPr>
                <a:t>player_gravity(...):</a:t>
              </a:r>
              <a:r>
                <a:rPr lang="en-US" sz="2738">
                  <a:solidFill>
                    <a:srgbClr val="F2F2F2"/>
                  </a:solidFill>
                  <a:latin typeface="HK Grotesk Light"/>
                  <a:ea typeface="HK Grotesk Light"/>
                  <a:cs typeface="HK Grotesk Light"/>
                  <a:sym typeface="HK Grotesk Light"/>
                </a:rPr>
                <a:t> </a:t>
              </a:r>
              <a:r>
                <a:rPr lang="en-US" sz="2738">
                  <a:solidFill>
                    <a:srgbClr val="F2F2F2"/>
                  </a:solidFill>
                  <a:latin typeface="HK Grotesk Light"/>
                  <a:ea typeface="HK Grotesk Light"/>
                  <a:cs typeface="HK Grotesk Light"/>
                  <a:sym typeface="HK Grotesk Light"/>
                </a:rPr>
                <a:t>This function applies constant downward acceleration to the player. It uses predictive collision detection to check if the player's "feet" will hit a floor block (#) or a solid wall (@) in the next frame. If a collision is detected, it snaps the player to the top of the block and resets vertical velocity.</a:t>
              </a:r>
            </a:p>
            <a:p>
              <a:pPr algn="l" marL="591321" indent="-295660" lvl="1">
                <a:lnSpc>
                  <a:spcPts val="3560"/>
                </a:lnSpc>
                <a:buFont typeface="Arial"/>
                <a:buChar char="•"/>
              </a:pPr>
              <a:r>
                <a:rPr lang="en-US" b="true" sz="2738">
                  <a:solidFill>
                    <a:srgbClr val="F2F2F2"/>
                  </a:solidFill>
                  <a:latin typeface="HK Grotesk Bold"/>
                  <a:ea typeface="HK Grotesk Bold"/>
                  <a:cs typeface="HK Grotesk Bold"/>
                  <a:sym typeface="HK Grotesk Bold"/>
                </a:rPr>
                <a:t>movement(...):</a:t>
              </a:r>
              <a:r>
                <a:rPr lang="en-US" sz="2738">
                  <a:solidFill>
                    <a:srgbClr val="F2F2F2"/>
                  </a:solidFill>
                  <a:latin typeface="HK Grotesk Light"/>
                  <a:ea typeface="HK Grotesk Light"/>
                  <a:cs typeface="HK Grotesk Light"/>
                  <a:sym typeface="HK Grotesk Light"/>
                </a:rPr>
                <a:t> Handles user input (Left, Right, Up, Down). It manages texture flipping (facing direction) and sprite animation frames. Crucially, it manages the Texture Swapping logic when the Spacebar is held, changing the player from "Walking" mode to "Vacuuming" mode.</a:t>
              </a:r>
            </a:p>
            <a:p>
              <a:pPr algn="l" marL="0" indent="0" lvl="0">
                <a:lnSpc>
                  <a:spcPts val="3560"/>
                </a:lnSpc>
              </a:pPr>
            </a:p>
          </p:txBody>
        </p:sp>
        <p:sp>
          <p:nvSpPr>
            <p:cNvPr name="TextBox 7" id="7"/>
            <p:cNvSpPr txBox="true"/>
            <p:nvPr/>
          </p:nvSpPr>
          <p:spPr>
            <a:xfrm rot="0">
              <a:off x="0" y="76200"/>
              <a:ext cx="11099800" cy="2362200"/>
            </a:xfrm>
            <a:prstGeom prst="rect">
              <a:avLst/>
            </a:prstGeom>
          </p:spPr>
          <p:txBody>
            <a:bodyPr anchor="t" rtlCol="false" tIns="0" lIns="0" bIns="0" rIns="0">
              <a:spAutoFit/>
            </a:bodyPr>
            <a:lstStyle/>
            <a:p>
              <a:pPr algn="l" marL="0" indent="0" lvl="0">
                <a:lnSpc>
                  <a:spcPts val="4500"/>
                </a:lnSpc>
              </a:pPr>
              <a:r>
                <a:rPr lang="en-US" sz="4500">
                  <a:solidFill>
                    <a:srgbClr val="F2F2F2"/>
                  </a:solidFill>
                  <a:latin typeface="Gilda Display"/>
                  <a:ea typeface="Gilda Display"/>
                  <a:cs typeface="Gilda Display"/>
                  <a:sym typeface="Gilda Display"/>
                </a:rPr>
                <a:t>4. Technical</a:t>
              </a:r>
              <a:r>
                <a:rPr lang="en-US" sz="4500">
                  <a:solidFill>
                    <a:srgbClr val="F2F2F2"/>
                  </a:solidFill>
                  <a:latin typeface="Gilda Display"/>
                  <a:ea typeface="Gilda Display"/>
                  <a:cs typeface="Gilda Display"/>
                  <a:sym typeface="Gilda Display"/>
                </a:rPr>
                <a:t> Implementation &amp; Custom levels</a:t>
              </a:r>
            </a:p>
            <a:p>
              <a:pPr algn="l" marL="0" indent="0" lvl="0">
                <a:lnSpc>
                  <a:spcPts val="4500"/>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sp>
        <p:nvSpPr>
          <p:cNvPr name="Freeform 2" id="2"/>
          <p:cNvSpPr/>
          <p:nvPr/>
        </p:nvSpPr>
        <p:spPr>
          <a:xfrm flipH="false" flipV="false" rot="-1268288">
            <a:off x="14795639" y="5873497"/>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268288">
            <a:off x="-6005389" y="-6781594"/>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2105025" y="1530804"/>
            <a:ext cx="6608072" cy="613758"/>
          </a:xfrm>
          <a:prstGeom prst="rect">
            <a:avLst/>
          </a:prstGeom>
        </p:spPr>
        <p:txBody>
          <a:bodyPr anchor="t" rtlCol="false" tIns="0" lIns="0" bIns="0" rIns="0">
            <a:spAutoFit/>
          </a:bodyPr>
          <a:lstStyle/>
          <a:p>
            <a:pPr algn="l" marL="0" indent="0" lvl="0">
              <a:lnSpc>
                <a:spcPts val="4600"/>
              </a:lnSpc>
            </a:pPr>
            <a:r>
              <a:rPr lang="en-US" sz="4600">
                <a:solidFill>
                  <a:srgbClr val="F2F2F2"/>
                </a:solidFill>
                <a:latin typeface="Gilda Display"/>
                <a:ea typeface="Gilda Display"/>
                <a:cs typeface="Gilda Display"/>
                <a:sym typeface="Gilda Display"/>
              </a:rPr>
              <a:t>MORE FUNCTIONS</a:t>
            </a:r>
          </a:p>
        </p:txBody>
      </p:sp>
      <p:sp>
        <p:nvSpPr>
          <p:cNvPr name="TextBox 5" id="5"/>
          <p:cNvSpPr txBox="true"/>
          <p:nvPr/>
        </p:nvSpPr>
        <p:spPr>
          <a:xfrm rot="0">
            <a:off x="379386" y="3447251"/>
            <a:ext cx="17908614" cy="3195438"/>
          </a:xfrm>
          <a:prstGeom prst="rect">
            <a:avLst/>
          </a:prstGeom>
        </p:spPr>
        <p:txBody>
          <a:bodyPr anchor="t" rtlCol="false" tIns="0" lIns="0" bIns="0" rIns="0">
            <a:spAutoFit/>
          </a:bodyPr>
          <a:lstStyle/>
          <a:p>
            <a:pPr algn="just">
              <a:lnSpc>
                <a:spcPts val="2804"/>
              </a:lnSpc>
            </a:pPr>
            <a:r>
              <a:rPr lang="en-US" sz="2804" b="true">
                <a:solidFill>
                  <a:srgbClr val="F2F2F2"/>
                </a:solidFill>
                <a:latin typeface="HK Grotesk Bold"/>
                <a:ea typeface="HK Grotesk Bold"/>
                <a:cs typeface="HK Grotesk Bold"/>
                <a:sym typeface="HK Grotesk Bold"/>
              </a:rPr>
              <a:t> Enemy Artificial Intelligence (AI)</a:t>
            </a:r>
          </a:p>
          <a:p>
            <a:pPr algn="just">
              <a:lnSpc>
                <a:spcPts val="2804"/>
              </a:lnSpc>
            </a:pPr>
          </a:p>
          <a:p>
            <a:pPr algn="just" marL="605523" indent="-302762" lvl="1">
              <a:lnSpc>
                <a:spcPts val="2804"/>
              </a:lnSpc>
              <a:spcBef>
                <a:spcPct val="0"/>
              </a:spcBef>
              <a:buFont typeface="Arial"/>
              <a:buChar char="•"/>
            </a:pPr>
            <a:r>
              <a:rPr lang="en-US" b="true" sz="2804">
                <a:solidFill>
                  <a:srgbClr val="F2F2F2"/>
                </a:solidFill>
                <a:latin typeface="HK Grotesk Bold"/>
                <a:ea typeface="HK Grotesk Bold"/>
                <a:cs typeface="HK Grotesk Bold"/>
                <a:sym typeface="HK Grotesk Bold"/>
              </a:rPr>
              <a:t>spawn_enemy(...):</a:t>
            </a:r>
            <a:r>
              <a:rPr lang="en-US" sz="2804">
                <a:solidFill>
                  <a:srgbClr val="F2F2F2"/>
                </a:solidFill>
                <a:latin typeface="HK Grotesk"/>
                <a:ea typeface="HK Grotesk"/>
                <a:cs typeface="HK Grotesk"/>
                <a:sym typeface="HK Grotesk"/>
              </a:rPr>
              <a:t> A universal spawner that ensures enemies do not spawn inside walls or in mid-air. It checks the grid coordinates t</a:t>
            </a:r>
            <a:r>
              <a:rPr lang="en-US" sz="2804">
                <a:solidFill>
                  <a:srgbClr val="F2F2F2"/>
                </a:solidFill>
                <a:latin typeface="HK Grotesk"/>
                <a:ea typeface="HK Grotesk"/>
                <a:cs typeface="HK Grotesk"/>
                <a:sym typeface="HK Grotesk"/>
              </a:rPr>
              <a:t>o ensure a valid floor exists beneath the spawn point.</a:t>
            </a:r>
          </a:p>
          <a:p>
            <a:pPr algn="just" marL="605523" indent="-302762" lvl="1">
              <a:lnSpc>
                <a:spcPts val="2804"/>
              </a:lnSpc>
              <a:spcBef>
                <a:spcPct val="0"/>
              </a:spcBef>
              <a:buFont typeface="Arial"/>
              <a:buChar char="•"/>
            </a:pPr>
            <a:r>
              <a:rPr lang="en-US" b="true" sz="2804">
                <a:solidFill>
                  <a:srgbClr val="F2F2F2"/>
                </a:solidFill>
                <a:latin typeface="HK Grotesk Bold"/>
                <a:ea typeface="HK Grotesk Bold"/>
                <a:cs typeface="HK Grotesk Bold"/>
                <a:sym typeface="HK Grotesk Bold"/>
              </a:rPr>
              <a:t>update_enemy_logic(...)</a:t>
            </a:r>
            <a:r>
              <a:rPr lang="en-US" sz="2804">
                <a:solidFill>
                  <a:srgbClr val="F2F2F2"/>
                </a:solidFill>
                <a:latin typeface="HK Grotesk"/>
                <a:ea typeface="HK Grotesk"/>
                <a:cs typeface="HK Grotesk"/>
                <a:sym typeface="HK Grotesk"/>
              </a:rPr>
              <a:t>: Controls enemy patrolling. It checks ahead of the enemy's current path. If a wall or a ledge (gap) is detected, the speed is multiplied by -1, causing the enemy to reverse direction.</a:t>
            </a:r>
          </a:p>
          <a:p>
            <a:pPr algn="just" marL="605523" indent="-302762" lvl="1">
              <a:lnSpc>
                <a:spcPts val="2804"/>
              </a:lnSpc>
              <a:spcBef>
                <a:spcPct val="0"/>
              </a:spcBef>
              <a:buFont typeface="Arial"/>
              <a:buChar char="•"/>
            </a:pPr>
            <a:r>
              <a:rPr lang="en-US" b="true" sz="2804">
                <a:solidFill>
                  <a:srgbClr val="F2F2F2"/>
                </a:solidFill>
                <a:latin typeface="HK Grotesk Bold"/>
                <a:ea typeface="HK Grotesk Bold"/>
                <a:cs typeface="HK Grotesk Bold"/>
                <a:sym typeface="HK Grotesk Bold"/>
              </a:rPr>
              <a:t>initialize_enemy_group(...</a:t>
            </a:r>
            <a:r>
              <a:rPr lang="en-US" sz="2804">
                <a:solidFill>
                  <a:srgbClr val="F2F2F2"/>
                </a:solidFill>
                <a:latin typeface="HK Grotesk"/>
                <a:ea typeface="HK Grotesk"/>
                <a:cs typeface="HK Grotesk"/>
                <a:sym typeface="HK Grotesk"/>
              </a:rPr>
              <a:t>): A helper function designed to initialize entire groups of enemies (Skeletons, Ghosts, Chelnovs) at once, assigning them textures and random starting directions.</a:t>
            </a:r>
          </a:p>
          <a:p>
            <a:pPr algn="just">
              <a:lnSpc>
                <a:spcPts val="2804"/>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sp>
        <p:nvSpPr>
          <p:cNvPr name="Freeform 2" id="2"/>
          <p:cNvSpPr/>
          <p:nvPr/>
        </p:nvSpPr>
        <p:spPr>
          <a:xfrm flipH="false" flipV="false" rot="9300848">
            <a:off x="12064338" y="5278644"/>
            <a:ext cx="13730046" cy="12931207"/>
          </a:xfrm>
          <a:custGeom>
            <a:avLst/>
            <a:gdLst/>
            <a:ahLst/>
            <a:cxnLst/>
            <a:rect r="r" b="b" t="t" l="l"/>
            <a:pathLst>
              <a:path h="12931207" w="13730046">
                <a:moveTo>
                  <a:pt x="0" y="0"/>
                </a:moveTo>
                <a:lnTo>
                  <a:pt x="13730046" y="0"/>
                </a:lnTo>
                <a:lnTo>
                  <a:pt x="13730046" y="12931207"/>
                </a:lnTo>
                <a:lnTo>
                  <a:pt x="0" y="129312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666750" y="838200"/>
            <a:ext cx="12944475" cy="2280919"/>
          </a:xfrm>
          <a:prstGeom prst="rect">
            <a:avLst/>
          </a:prstGeom>
        </p:spPr>
        <p:txBody>
          <a:bodyPr anchor="t" rtlCol="false" tIns="0" lIns="0" bIns="0" rIns="0">
            <a:spAutoFit/>
          </a:bodyPr>
          <a:lstStyle/>
          <a:p>
            <a:pPr algn="l" marL="0" indent="0" lvl="0">
              <a:lnSpc>
                <a:spcPts val="8799"/>
              </a:lnSpc>
            </a:pPr>
            <a:r>
              <a:rPr lang="en-US" sz="8799">
                <a:solidFill>
                  <a:srgbClr val="9CA0FF"/>
                </a:solidFill>
                <a:latin typeface="Gilda Display"/>
                <a:ea typeface="Gilda Display"/>
                <a:cs typeface="Gilda Display"/>
                <a:sym typeface="Gilda Display"/>
              </a:rPr>
              <a:t>5. Developme</a:t>
            </a:r>
            <a:r>
              <a:rPr lang="en-US" sz="8799">
                <a:solidFill>
                  <a:srgbClr val="9CA0FF"/>
                </a:solidFill>
                <a:latin typeface="Gilda Display"/>
                <a:ea typeface="Gilda Display"/>
                <a:cs typeface="Gilda Display"/>
                <a:sym typeface="Gilda Display"/>
              </a:rPr>
              <a:t>nt Workflow</a:t>
            </a:r>
          </a:p>
        </p:txBody>
      </p:sp>
      <p:sp>
        <p:nvSpPr>
          <p:cNvPr name="TextBox 4" id="4"/>
          <p:cNvSpPr txBox="true"/>
          <p:nvPr/>
        </p:nvSpPr>
        <p:spPr>
          <a:xfrm rot="0">
            <a:off x="666750" y="3552188"/>
            <a:ext cx="15124395" cy="5162332"/>
          </a:xfrm>
          <a:prstGeom prst="rect">
            <a:avLst/>
          </a:prstGeom>
        </p:spPr>
        <p:txBody>
          <a:bodyPr anchor="t" rtlCol="false" tIns="0" lIns="0" bIns="0" rIns="0">
            <a:spAutoFit/>
          </a:bodyPr>
          <a:lstStyle/>
          <a:p>
            <a:pPr algn="l">
              <a:lnSpc>
                <a:spcPts val="3741"/>
              </a:lnSpc>
              <a:spcBef>
                <a:spcPct val="0"/>
              </a:spcBef>
            </a:pPr>
            <a:r>
              <a:rPr lang="en-US" b="true" sz="3741">
                <a:solidFill>
                  <a:srgbClr val="DAD9D9"/>
                </a:solidFill>
                <a:latin typeface="HK Grotesk Bold"/>
                <a:ea typeface="HK Grotesk Bold"/>
                <a:cs typeface="HK Grotesk Bold"/>
                <a:sym typeface="HK Grotesk Bold"/>
              </a:rPr>
              <a:t>Map Design:</a:t>
            </a:r>
            <a:r>
              <a:rPr lang="en-US" sz="3741">
                <a:solidFill>
                  <a:srgbClr val="DAD9D9"/>
                </a:solidFill>
                <a:latin typeface="HK Grotesk"/>
                <a:ea typeface="HK Grotesk"/>
                <a:cs typeface="HK Grotesk"/>
                <a:sym typeface="HK Grotesk"/>
              </a:rPr>
              <a:t> The levels were designed using a 2D char array (char** lvl), where symbols represent game objects (# for bricks, @ for walls, &amp; for slopes).</a:t>
            </a:r>
          </a:p>
          <a:p>
            <a:pPr algn="l">
              <a:lnSpc>
                <a:spcPts val="3741"/>
              </a:lnSpc>
              <a:spcBef>
                <a:spcPct val="0"/>
              </a:spcBef>
            </a:pPr>
            <a:r>
              <a:rPr lang="en-US" b="true" sz="3741">
                <a:solidFill>
                  <a:srgbClr val="DAD9D9"/>
                </a:solidFill>
                <a:latin typeface="HK Grotesk Bold"/>
                <a:ea typeface="HK Grotesk Bold"/>
                <a:cs typeface="HK Grotesk Bold"/>
                <a:sym typeface="HK Grotesk Bold"/>
              </a:rPr>
              <a:t>Asset Integration</a:t>
            </a:r>
            <a:r>
              <a:rPr lang="en-US" sz="3741">
                <a:solidFill>
                  <a:srgbClr val="DAD9D9"/>
                </a:solidFill>
                <a:latin typeface="HK Grotesk"/>
                <a:ea typeface="HK Grotesk"/>
                <a:cs typeface="HK Grotesk"/>
                <a:sym typeface="HK Grotesk"/>
              </a:rPr>
              <a:t>: Sprites were cut using the Leshy Tool to get precise pixel coordinates for IntRect.</a:t>
            </a:r>
          </a:p>
          <a:p>
            <a:pPr algn="l">
              <a:lnSpc>
                <a:spcPts val="3741"/>
              </a:lnSpc>
              <a:spcBef>
                <a:spcPct val="0"/>
              </a:spcBef>
            </a:pPr>
            <a:r>
              <a:rPr lang="en-US" b="true" sz="3741">
                <a:solidFill>
                  <a:srgbClr val="DAD9D9"/>
                </a:solidFill>
                <a:latin typeface="HK Grotesk Bold"/>
                <a:ea typeface="HK Grotesk Bold"/>
                <a:cs typeface="HK Grotesk Bold"/>
                <a:sym typeface="HK Grotesk Bold"/>
              </a:rPr>
              <a:t>Physics Implementation</a:t>
            </a:r>
            <a:r>
              <a:rPr lang="en-US" sz="3741">
                <a:solidFill>
                  <a:srgbClr val="DAD9D9"/>
                </a:solidFill>
                <a:latin typeface="HK Grotesk"/>
                <a:ea typeface="HK Grotesk"/>
                <a:cs typeface="HK Grotesk"/>
                <a:sym typeface="HK Grotesk"/>
              </a:rPr>
              <a:t>: Gravity and collision were implemented first to ensure the character could traverse the map.</a:t>
            </a:r>
          </a:p>
          <a:p>
            <a:pPr algn="l">
              <a:lnSpc>
                <a:spcPts val="3741"/>
              </a:lnSpc>
              <a:spcBef>
                <a:spcPct val="0"/>
              </a:spcBef>
            </a:pPr>
            <a:r>
              <a:rPr lang="en-US" b="true" sz="3741">
                <a:solidFill>
                  <a:srgbClr val="DAD9D9"/>
                </a:solidFill>
                <a:latin typeface="HK Grotesk Bold"/>
                <a:ea typeface="HK Grotesk Bold"/>
                <a:cs typeface="HK Grotesk Bold"/>
                <a:sym typeface="HK Grotesk Bold"/>
              </a:rPr>
              <a:t>Enemy Logic:</a:t>
            </a:r>
            <a:r>
              <a:rPr lang="en-US" sz="3741">
                <a:solidFill>
                  <a:srgbClr val="DAD9D9"/>
                </a:solidFill>
                <a:latin typeface="HK Grotesk"/>
                <a:ea typeface="HK Grotesk"/>
                <a:cs typeface="HK Grotesk"/>
                <a:sym typeface="HK Grotesk"/>
              </a:rPr>
              <a:t> Basic patrolling AI was added, followed by the specific vacuum capture mechanic.</a:t>
            </a:r>
          </a:p>
          <a:p>
            <a:pPr algn="l">
              <a:lnSpc>
                <a:spcPts val="3741"/>
              </a:lnSpc>
              <a:spcBef>
                <a:spcPct val="0"/>
              </a:spcBef>
            </a:pPr>
            <a:r>
              <a:rPr lang="en-US" b="true" sz="3741">
                <a:solidFill>
                  <a:srgbClr val="DAD9D9"/>
                </a:solidFill>
                <a:latin typeface="HK Grotesk Bold"/>
                <a:ea typeface="HK Grotesk Bold"/>
                <a:cs typeface="HK Grotesk Bold"/>
                <a:sym typeface="HK Grotesk Bold"/>
              </a:rPr>
              <a:t>Polish:</a:t>
            </a:r>
            <a:r>
              <a:rPr lang="en-US" sz="3741">
                <a:solidFill>
                  <a:srgbClr val="DAD9D9"/>
                </a:solidFill>
                <a:latin typeface="HK Grotesk"/>
                <a:ea typeface="HK Grotesk"/>
                <a:cs typeface="HK Grotesk"/>
                <a:sym typeface="HK Grotesk"/>
              </a:rPr>
              <a:t> Level 2's unique slope mechanic and specific enemy types (Invisible Man, Chelnov) were added in the final phase.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4077950" cy="2062247"/>
            <a:chOff x="0" y="0"/>
            <a:chExt cx="18770600" cy="2749662"/>
          </a:xfrm>
        </p:grpSpPr>
        <p:sp>
          <p:nvSpPr>
            <p:cNvPr name="TextBox 3" id="3"/>
            <p:cNvSpPr txBox="true"/>
            <p:nvPr/>
          </p:nvSpPr>
          <p:spPr>
            <a:xfrm rot="0">
              <a:off x="0" y="171450"/>
              <a:ext cx="18770600" cy="1612476"/>
            </a:xfrm>
            <a:prstGeom prst="rect">
              <a:avLst/>
            </a:prstGeom>
          </p:spPr>
          <p:txBody>
            <a:bodyPr anchor="t" rtlCol="false" tIns="0" lIns="0" bIns="0" rIns="0">
              <a:spAutoFit/>
            </a:bodyPr>
            <a:lstStyle/>
            <a:p>
              <a:pPr algn="l" marL="0" indent="0" lvl="0">
                <a:lnSpc>
                  <a:spcPts val="8799"/>
                </a:lnSpc>
              </a:pPr>
              <a:r>
                <a:rPr lang="en-US" sz="8799">
                  <a:solidFill>
                    <a:srgbClr val="9CA0FF"/>
                  </a:solidFill>
                  <a:latin typeface="Gilda Display"/>
                  <a:ea typeface="Gilda Display"/>
                  <a:cs typeface="Gilda Display"/>
                  <a:sym typeface="Gilda Display"/>
                </a:rPr>
                <a:t>Challenges &amp; Solutions</a:t>
              </a:r>
            </a:p>
          </p:txBody>
        </p:sp>
        <p:sp>
          <p:nvSpPr>
            <p:cNvPr name="TextBox 4" id="4"/>
            <p:cNvSpPr txBox="true"/>
            <p:nvPr/>
          </p:nvSpPr>
          <p:spPr>
            <a:xfrm rot="0">
              <a:off x="0" y="2130537"/>
              <a:ext cx="187706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F2F2F2"/>
                  </a:solidFill>
                  <a:latin typeface="HK Grotesk Bold"/>
                  <a:ea typeface="HK Grotesk Bold"/>
                  <a:cs typeface="HK Grotesk Bold"/>
                  <a:sym typeface="HK Grotesk Bold"/>
                </a:rPr>
                <a:t>Overcoming obstacles in game development</a:t>
              </a:r>
            </a:p>
          </p:txBody>
        </p:sp>
      </p:grpSp>
      <p:sp>
        <p:nvSpPr>
          <p:cNvPr name="TextBox 5" id="5"/>
          <p:cNvSpPr txBox="true"/>
          <p:nvPr/>
        </p:nvSpPr>
        <p:spPr>
          <a:xfrm rot="0">
            <a:off x="666750" y="5105400"/>
            <a:ext cx="6886575" cy="4457700"/>
          </a:xfrm>
          <a:prstGeom prst="rect">
            <a:avLst/>
          </a:prstGeom>
        </p:spPr>
        <p:txBody>
          <a:bodyPr anchor="t" rtlCol="false" tIns="0" lIns="0" bIns="0" rIns="0">
            <a:spAutoFit/>
          </a:bodyPr>
          <a:lstStyle/>
          <a:p>
            <a:pPr algn="l" marL="647700" indent="-323850" lvl="1">
              <a:lnSpc>
                <a:spcPts val="3900"/>
              </a:lnSpc>
              <a:buFont typeface="Arial"/>
              <a:buChar char="•"/>
            </a:pPr>
            <a:r>
              <a:rPr lang="en-US" b="true" sz="3000">
                <a:solidFill>
                  <a:srgbClr val="F2F2F2"/>
                </a:solidFill>
                <a:latin typeface="HK Grotesk Bold"/>
                <a:ea typeface="HK Grotesk Bold"/>
                <a:cs typeface="HK Grotesk Bold"/>
                <a:sym typeface="HK Grotesk Bold"/>
              </a:rPr>
              <a:t>C</a:t>
            </a:r>
            <a:r>
              <a:rPr lang="en-US" b="true" sz="3000" strike="noStrike" u="none">
                <a:solidFill>
                  <a:srgbClr val="F2F2F2"/>
                </a:solidFill>
                <a:latin typeface="HK Grotesk Bold"/>
                <a:ea typeface="HK Grotesk Bold"/>
                <a:cs typeface="HK Grotesk Bold"/>
                <a:sym typeface="HK Grotesk Bold"/>
              </a:rPr>
              <a:t>ha</a:t>
            </a:r>
            <a:r>
              <a:rPr lang="en-US" b="true" sz="3000" strike="noStrike" u="none">
                <a:solidFill>
                  <a:srgbClr val="F2F2F2"/>
                </a:solidFill>
                <a:latin typeface="HK Grotesk Bold"/>
                <a:ea typeface="HK Grotesk Bold"/>
                <a:cs typeface="HK Grotesk Bold"/>
                <a:sym typeface="HK Grotesk Bold"/>
              </a:rPr>
              <a:t>lle</a:t>
            </a:r>
            <a:r>
              <a:rPr lang="en-US" b="true" sz="3000" strike="noStrike" u="none">
                <a:solidFill>
                  <a:srgbClr val="F2F2F2"/>
                </a:solidFill>
                <a:latin typeface="HK Grotesk Bold"/>
                <a:ea typeface="HK Grotesk Bold"/>
                <a:cs typeface="HK Grotesk Bold"/>
                <a:sym typeface="HK Grotesk Bold"/>
              </a:rPr>
              <a:t>n</a:t>
            </a:r>
            <a:r>
              <a:rPr lang="en-US" b="true" sz="3000" strike="noStrike" u="none">
                <a:solidFill>
                  <a:srgbClr val="F2F2F2"/>
                </a:solidFill>
                <a:latin typeface="HK Grotesk Bold"/>
                <a:ea typeface="HK Grotesk Bold"/>
                <a:cs typeface="HK Grotesk Bold"/>
                <a:sym typeface="HK Grotesk Bold"/>
              </a:rPr>
              <a:t>g</a:t>
            </a:r>
            <a:r>
              <a:rPr lang="en-US" b="true" sz="3000" strike="noStrike" u="none">
                <a:solidFill>
                  <a:srgbClr val="F2F2F2"/>
                </a:solidFill>
                <a:latin typeface="HK Grotesk Bold"/>
                <a:ea typeface="HK Grotesk Bold"/>
                <a:cs typeface="HK Grotesk Bold"/>
                <a:sym typeface="HK Grotesk Bold"/>
              </a:rPr>
              <a:t>e</a:t>
            </a:r>
            <a:r>
              <a:rPr lang="en-US" b="true" sz="3000" strike="noStrike" u="none">
                <a:solidFill>
                  <a:srgbClr val="F2F2F2"/>
                </a:solidFill>
                <a:latin typeface="HK Grotesk Bold"/>
                <a:ea typeface="HK Grotesk Bold"/>
                <a:cs typeface="HK Grotesk Bold"/>
                <a:sym typeface="HK Grotesk Bold"/>
              </a:rPr>
              <a:t>:</a:t>
            </a:r>
            <a:r>
              <a:rPr lang="en-US" b="true" sz="3000" strike="noStrike" u="none">
                <a:solidFill>
                  <a:srgbClr val="F2F2F2"/>
                </a:solidFill>
                <a:latin typeface="HK Grotesk Bold"/>
                <a:ea typeface="HK Grotesk Bold"/>
                <a:cs typeface="HK Grotesk Bold"/>
                <a:sym typeface="HK Grotesk Bold"/>
              </a:rPr>
              <a:t> </a:t>
            </a:r>
            <a:r>
              <a:rPr lang="en-US" sz="3000" strike="noStrike" u="none">
                <a:solidFill>
                  <a:srgbClr val="F2F2F2"/>
                </a:solidFill>
                <a:latin typeface="HK Grotesk Light"/>
                <a:ea typeface="HK Grotesk Light"/>
                <a:cs typeface="HK Grotesk Light"/>
                <a:sym typeface="HK Grotesk Light"/>
              </a:rPr>
              <a:t>Th</a:t>
            </a:r>
            <a:r>
              <a:rPr lang="en-US" sz="3000" strike="noStrike" u="none">
                <a:solidFill>
                  <a:srgbClr val="F2F2F2"/>
                </a:solidFill>
                <a:latin typeface="HK Grotesk Light"/>
                <a:ea typeface="HK Grotesk Light"/>
                <a:cs typeface="HK Grotesk Light"/>
                <a:sym typeface="HK Grotesk Light"/>
              </a:rPr>
              <a:t>e</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play</a:t>
            </a:r>
            <a:r>
              <a:rPr lang="en-US" sz="3000" strike="noStrike" u="none">
                <a:solidFill>
                  <a:srgbClr val="F2F2F2"/>
                </a:solidFill>
                <a:latin typeface="HK Grotesk Light"/>
                <a:ea typeface="HK Grotesk Light"/>
                <a:cs typeface="HK Grotesk Light"/>
                <a:sym typeface="HK Grotesk Light"/>
              </a:rPr>
              <a:t>er</a:t>
            </a:r>
            <a:r>
              <a:rPr lang="en-US" sz="3000" strike="noStrike" u="none">
                <a:solidFill>
                  <a:srgbClr val="F2F2F2"/>
                </a:solidFill>
                <a:latin typeface="HK Grotesk Light"/>
                <a:ea typeface="HK Grotesk Light"/>
                <a:cs typeface="HK Grotesk Light"/>
                <a:sym typeface="HK Grotesk Light"/>
              </a:rPr>
              <a:t> w</a:t>
            </a:r>
            <a:r>
              <a:rPr lang="en-US" sz="3000" strike="noStrike" u="none">
                <a:solidFill>
                  <a:srgbClr val="F2F2F2"/>
                </a:solidFill>
                <a:latin typeface="HK Grotesk Light"/>
                <a:ea typeface="HK Grotesk Light"/>
                <a:cs typeface="HK Grotesk Light"/>
                <a:sym typeface="HK Grotesk Light"/>
              </a:rPr>
              <a:t>ould</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so</a:t>
            </a:r>
            <a:r>
              <a:rPr lang="en-US" sz="3000" strike="noStrike" u="none">
                <a:solidFill>
                  <a:srgbClr val="F2F2F2"/>
                </a:solidFill>
                <a:latin typeface="HK Grotesk Light"/>
                <a:ea typeface="HK Grotesk Light"/>
                <a:cs typeface="HK Grotesk Light"/>
                <a:sym typeface="HK Grotesk Light"/>
              </a:rPr>
              <a:t>me</a:t>
            </a:r>
            <a:r>
              <a:rPr lang="en-US" sz="3000" strike="noStrike" u="none">
                <a:solidFill>
                  <a:srgbClr val="F2F2F2"/>
                </a:solidFill>
                <a:latin typeface="HK Grotesk Light"/>
                <a:ea typeface="HK Grotesk Light"/>
                <a:cs typeface="HK Grotesk Light"/>
                <a:sym typeface="HK Grotesk Light"/>
              </a:rPr>
              <a:t>ti</a:t>
            </a:r>
            <a:r>
              <a:rPr lang="en-US" sz="3000" strike="noStrike" u="none">
                <a:solidFill>
                  <a:srgbClr val="F2F2F2"/>
                </a:solidFill>
                <a:latin typeface="HK Grotesk Light"/>
                <a:ea typeface="HK Grotesk Light"/>
                <a:cs typeface="HK Grotesk Light"/>
                <a:sym typeface="HK Grotesk Light"/>
              </a:rPr>
              <a:t>me</a:t>
            </a:r>
            <a:r>
              <a:rPr lang="en-US" sz="3000" strike="noStrike" u="none">
                <a:solidFill>
                  <a:srgbClr val="F2F2F2"/>
                </a:solidFill>
                <a:latin typeface="HK Grotesk Light"/>
                <a:ea typeface="HK Grotesk Light"/>
                <a:cs typeface="HK Grotesk Light"/>
                <a:sym typeface="HK Grotesk Light"/>
              </a:rPr>
              <a:t>s g</a:t>
            </a:r>
            <a:r>
              <a:rPr lang="en-US" sz="3000" strike="noStrike" u="none">
                <a:solidFill>
                  <a:srgbClr val="F2F2F2"/>
                </a:solidFill>
                <a:latin typeface="HK Grotesk Light"/>
                <a:ea typeface="HK Grotesk Light"/>
                <a:cs typeface="HK Grotesk Light"/>
                <a:sym typeface="HK Grotesk Light"/>
              </a:rPr>
              <a:t>e</a:t>
            </a:r>
            <a:r>
              <a:rPr lang="en-US" sz="3000" strike="noStrike" u="none">
                <a:solidFill>
                  <a:srgbClr val="F2F2F2"/>
                </a:solidFill>
                <a:latin typeface="HK Grotesk Light"/>
                <a:ea typeface="HK Grotesk Light"/>
                <a:cs typeface="HK Grotesk Light"/>
                <a:sym typeface="HK Grotesk Light"/>
              </a:rPr>
              <a:t>t</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stuck inside walls during high-speed movement.</a:t>
            </a:r>
          </a:p>
          <a:p>
            <a:pPr algn="l" marL="1295400" indent="-431800" lvl="2">
              <a:lnSpc>
                <a:spcPts val="3900"/>
              </a:lnSpc>
              <a:buFont typeface="Arial"/>
              <a:buChar char="⚬"/>
            </a:pPr>
            <a:r>
              <a:rPr lang="en-US" b="true" sz="3000" strike="noStrike" u="none">
                <a:solidFill>
                  <a:srgbClr val="F2F2F2"/>
                </a:solidFill>
                <a:latin typeface="HK Grotesk Bold"/>
                <a:ea typeface="HK Grotesk Bold"/>
                <a:cs typeface="HK Grotesk Bold"/>
                <a:sym typeface="HK Grotesk Bold"/>
              </a:rPr>
              <a:t>Solution:</a:t>
            </a:r>
            <a:r>
              <a:rPr lang="en-US" b="true" sz="3000" strike="noStrike" u="none">
                <a:solidFill>
                  <a:srgbClr val="F2F2F2"/>
                </a:solidFill>
                <a:latin typeface="HK Grotesk Bold"/>
                <a:ea typeface="HK Grotesk Bold"/>
                <a:cs typeface="HK Grotesk Bold"/>
                <a:sym typeface="HK Grotesk Bold"/>
              </a:rPr>
              <a:t> </a:t>
            </a:r>
            <a:r>
              <a:rPr lang="en-US" sz="3000" strike="noStrike" u="none">
                <a:solidFill>
                  <a:srgbClr val="F2F2F2"/>
                </a:solidFill>
                <a:latin typeface="HK Grotesk Light"/>
                <a:ea typeface="HK Grotesk Light"/>
                <a:cs typeface="HK Grotesk Light"/>
                <a:sym typeface="HK Grotesk Light"/>
              </a:rPr>
              <a:t>We impleme</a:t>
            </a:r>
            <a:r>
              <a:rPr lang="en-US" sz="3000" strike="noStrike" u="none">
                <a:solidFill>
                  <a:srgbClr val="F2F2F2"/>
                </a:solidFill>
                <a:latin typeface="HK Grotesk Light"/>
                <a:ea typeface="HK Grotesk Light"/>
                <a:cs typeface="HK Grotesk Light"/>
                <a:sym typeface="HK Grotesk Light"/>
              </a:rPr>
              <a:t>n</a:t>
            </a:r>
            <a:r>
              <a:rPr lang="en-US" sz="3000" strike="noStrike" u="none">
                <a:solidFill>
                  <a:srgbClr val="F2F2F2"/>
                </a:solidFill>
                <a:latin typeface="HK Grotesk Light"/>
                <a:ea typeface="HK Grotesk Light"/>
                <a:cs typeface="HK Grotesk Light"/>
                <a:sym typeface="HK Grotesk Light"/>
              </a:rPr>
              <a:t>te</a:t>
            </a:r>
            <a:r>
              <a:rPr lang="en-US" sz="3000" strike="noStrike" u="none">
                <a:solidFill>
                  <a:srgbClr val="F2F2F2"/>
                </a:solidFill>
                <a:latin typeface="HK Grotesk Light"/>
                <a:ea typeface="HK Grotesk Light"/>
                <a:cs typeface="HK Grotesk Light"/>
                <a:sym typeface="HK Grotesk Light"/>
              </a:rPr>
              <a:t>d </a:t>
            </a:r>
            <a:r>
              <a:rPr lang="en-US" sz="3000" strike="noStrike" u="none">
                <a:solidFill>
                  <a:srgbClr val="F2F2F2"/>
                </a:solidFill>
                <a:latin typeface="HK Grotesk Light"/>
                <a:ea typeface="HK Grotesk Light"/>
                <a:cs typeface="HK Grotesk Light"/>
                <a:sym typeface="HK Grotesk Light"/>
              </a:rPr>
              <a:t>a p</a:t>
            </a:r>
            <a:r>
              <a:rPr lang="en-US" sz="3000" strike="noStrike" u="none">
                <a:solidFill>
                  <a:srgbClr val="F2F2F2"/>
                </a:solidFill>
                <a:latin typeface="HK Grotesk Light"/>
                <a:ea typeface="HK Grotesk Light"/>
                <a:cs typeface="HK Grotesk Light"/>
                <a:sym typeface="HK Grotesk Light"/>
              </a:rPr>
              <a:t>red</a:t>
            </a:r>
            <a:r>
              <a:rPr lang="en-US" sz="3000" strike="noStrike" u="none">
                <a:solidFill>
                  <a:srgbClr val="F2F2F2"/>
                </a:solidFill>
                <a:latin typeface="HK Grotesk Light"/>
                <a:ea typeface="HK Grotesk Light"/>
                <a:cs typeface="HK Grotesk Light"/>
                <a:sym typeface="HK Grotesk Light"/>
              </a:rPr>
              <a:t>ict</a:t>
            </a:r>
            <a:r>
              <a:rPr lang="en-US" sz="3000" strike="noStrike" u="none">
                <a:solidFill>
                  <a:srgbClr val="F2F2F2"/>
                </a:solidFill>
                <a:latin typeface="HK Grotesk Light"/>
                <a:ea typeface="HK Grotesk Light"/>
                <a:cs typeface="HK Grotesk Light"/>
                <a:sym typeface="HK Grotesk Light"/>
              </a:rPr>
              <a:t>i</a:t>
            </a:r>
            <a:r>
              <a:rPr lang="en-US" sz="3000" strike="noStrike" u="none">
                <a:solidFill>
                  <a:srgbClr val="F2F2F2"/>
                </a:solidFill>
                <a:latin typeface="HK Grotesk Light"/>
                <a:ea typeface="HK Grotesk Light"/>
                <a:cs typeface="HK Grotesk Light"/>
                <a:sym typeface="HK Grotesk Light"/>
              </a:rPr>
              <a:t>ve</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co</a:t>
            </a:r>
            <a:r>
              <a:rPr lang="en-US" sz="3000" strike="noStrike" u="none">
                <a:solidFill>
                  <a:srgbClr val="F2F2F2"/>
                </a:solidFill>
                <a:latin typeface="HK Grotesk Light"/>
                <a:ea typeface="HK Grotesk Light"/>
                <a:cs typeface="HK Grotesk Light"/>
                <a:sym typeface="HK Grotesk Light"/>
              </a:rPr>
              <a:t>l</a:t>
            </a:r>
            <a:r>
              <a:rPr lang="en-US" sz="3000" strike="noStrike" u="none">
                <a:solidFill>
                  <a:srgbClr val="F2F2F2"/>
                </a:solidFill>
                <a:latin typeface="HK Grotesk Light"/>
                <a:ea typeface="HK Grotesk Light"/>
                <a:cs typeface="HK Grotesk Light"/>
                <a:sym typeface="HK Grotesk Light"/>
              </a:rPr>
              <a:t>l</a:t>
            </a:r>
            <a:r>
              <a:rPr lang="en-US" sz="3000" strike="noStrike" u="none">
                <a:solidFill>
                  <a:srgbClr val="F2F2F2"/>
                </a:solidFill>
                <a:latin typeface="HK Grotesk Light"/>
                <a:ea typeface="HK Grotesk Light"/>
                <a:cs typeface="HK Grotesk Light"/>
                <a:sym typeface="HK Grotesk Light"/>
              </a:rPr>
              <a:t>isi</a:t>
            </a:r>
            <a:r>
              <a:rPr lang="en-US" sz="3000" strike="noStrike" u="none">
                <a:solidFill>
                  <a:srgbClr val="F2F2F2"/>
                </a:solidFill>
                <a:latin typeface="HK Grotesk Light"/>
                <a:ea typeface="HK Grotesk Light"/>
                <a:cs typeface="HK Grotesk Light"/>
                <a:sym typeface="HK Grotesk Light"/>
              </a:rPr>
              <a:t>o</a:t>
            </a:r>
            <a:r>
              <a:rPr lang="en-US" sz="3000" strike="noStrike" u="none">
                <a:solidFill>
                  <a:srgbClr val="F2F2F2"/>
                </a:solidFill>
                <a:latin typeface="HK Grotesk Light"/>
                <a:ea typeface="HK Grotesk Light"/>
                <a:cs typeface="HK Grotesk Light"/>
                <a:sym typeface="HK Grotesk Light"/>
              </a:rPr>
              <a:t>n c</a:t>
            </a:r>
            <a:r>
              <a:rPr lang="en-US" sz="3000" strike="noStrike" u="none">
                <a:solidFill>
                  <a:srgbClr val="F2F2F2"/>
                </a:solidFill>
                <a:latin typeface="HK Grotesk Light"/>
                <a:ea typeface="HK Grotesk Light"/>
                <a:cs typeface="HK Grotesk Light"/>
                <a:sym typeface="HK Grotesk Light"/>
              </a:rPr>
              <a:t>h</a:t>
            </a:r>
            <a:r>
              <a:rPr lang="en-US" sz="3000" strike="noStrike" u="none">
                <a:solidFill>
                  <a:srgbClr val="F2F2F2"/>
                </a:solidFill>
                <a:latin typeface="HK Grotesk Light"/>
                <a:ea typeface="HK Grotesk Light"/>
                <a:cs typeface="HK Grotesk Light"/>
                <a:sym typeface="HK Grotesk Light"/>
              </a:rPr>
              <a:t>e</a:t>
            </a:r>
            <a:r>
              <a:rPr lang="en-US" sz="3000" strike="noStrike" u="none">
                <a:solidFill>
                  <a:srgbClr val="F2F2F2"/>
                </a:solidFill>
                <a:latin typeface="HK Grotesk Light"/>
                <a:ea typeface="HK Grotesk Light"/>
                <a:cs typeface="HK Grotesk Light"/>
                <a:sym typeface="HK Grotesk Light"/>
              </a:rPr>
              <a:t>ck </a:t>
            </a:r>
            <a:r>
              <a:rPr lang="en-US" sz="3000" strike="noStrike" u="none">
                <a:solidFill>
                  <a:srgbClr val="F2F2F2"/>
                </a:solidFill>
                <a:latin typeface="HK Grotesk Light"/>
                <a:ea typeface="HK Grotesk Light"/>
                <a:cs typeface="HK Grotesk Light"/>
                <a:sym typeface="HK Grotesk Light"/>
              </a:rPr>
              <a:t>in </a:t>
            </a:r>
            <a:r>
              <a:rPr lang="en-US" sz="3000" strike="noStrike" u="none">
                <a:solidFill>
                  <a:srgbClr val="F2F2F2"/>
                </a:solidFill>
                <a:latin typeface="HK Grotesk Light"/>
                <a:ea typeface="HK Grotesk Light"/>
                <a:cs typeface="HK Grotesk Light"/>
                <a:sym typeface="HK Grotesk Light"/>
              </a:rPr>
              <a:t>mov</a:t>
            </a:r>
            <a:r>
              <a:rPr lang="en-US" sz="3000" strike="noStrike" u="none">
                <a:solidFill>
                  <a:srgbClr val="F2F2F2"/>
                </a:solidFill>
                <a:latin typeface="HK Grotesk Light"/>
                <a:ea typeface="HK Grotesk Light"/>
                <a:cs typeface="HK Grotesk Light"/>
                <a:sym typeface="HK Grotesk Light"/>
              </a:rPr>
              <a:t>eme</a:t>
            </a:r>
            <a:r>
              <a:rPr lang="en-US" sz="3000" strike="noStrike" u="none">
                <a:solidFill>
                  <a:srgbClr val="F2F2F2"/>
                </a:solidFill>
                <a:latin typeface="HK Grotesk Light"/>
                <a:ea typeface="HK Grotesk Light"/>
                <a:cs typeface="HK Grotesk Light"/>
                <a:sym typeface="HK Grotesk Light"/>
              </a:rPr>
              <a:t>nt()</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th</a:t>
            </a:r>
            <a:r>
              <a:rPr lang="en-US" sz="3000" strike="noStrike" u="none">
                <a:solidFill>
                  <a:srgbClr val="F2F2F2"/>
                </a:solidFill>
                <a:latin typeface="HK Grotesk Light"/>
                <a:ea typeface="HK Grotesk Light"/>
                <a:cs typeface="HK Grotesk Light"/>
                <a:sym typeface="HK Grotesk Light"/>
              </a:rPr>
              <a:t>at</a:t>
            </a:r>
            <a:r>
              <a:rPr lang="en-US" sz="3000" strike="noStrike" u="none">
                <a:solidFill>
                  <a:srgbClr val="F2F2F2"/>
                </a:solidFill>
                <a:latin typeface="HK Grotesk Light"/>
                <a:ea typeface="HK Grotesk Light"/>
                <a:cs typeface="HK Grotesk Light"/>
                <a:sym typeface="HK Grotesk Light"/>
              </a:rPr>
              <a:t> looks</a:t>
            </a:r>
            <a:r>
              <a:rPr lang="en-US" sz="3000" strike="noStrike" u="none">
                <a:solidFill>
                  <a:srgbClr val="F2F2F2"/>
                </a:solidFill>
                <a:latin typeface="HK Grotesk Light"/>
                <a:ea typeface="HK Grotesk Light"/>
                <a:cs typeface="HK Grotesk Light"/>
                <a:sym typeface="HK Grotesk Light"/>
              </a:rPr>
              <a:t> a</a:t>
            </a:r>
            <a:r>
              <a:rPr lang="en-US" sz="3000" strike="noStrike" u="none">
                <a:solidFill>
                  <a:srgbClr val="F2F2F2"/>
                </a:solidFill>
                <a:latin typeface="HK Grotesk Light"/>
                <a:ea typeface="HK Grotesk Light"/>
                <a:cs typeface="HK Grotesk Light"/>
                <a:sym typeface="HK Grotesk Light"/>
              </a:rPr>
              <a:t>hea</a:t>
            </a:r>
            <a:r>
              <a:rPr lang="en-US" sz="3000" strike="noStrike" u="none">
                <a:solidFill>
                  <a:srgbClr val="F2F2F2"/>
                </a:solidFill>
                <a:latin typeface="HK Grotesk Light"/>
                <a:ea typeface="HK Grotesk Light"/>
                <a:cs typeface="HK Grotesk Light"/>
                <a:sym typeface="HK Grotesk Light"/>
              </a:rPr>
              <a:t>d </a:t>
            </a:r>
            <a:r>
              <a:rPr lang="en-US" sz="3000" strike="noStrike" u="none">
                <a:solidFill>
                  <a:srgbClr val="F2F2F2"/>
                </a:solidFill>
                <a:latin typeface="HK Grotesk Light"/>
                <a:ea typeface="HK Grotesk Light"/>
                <a:cs typeface="HK Grotesk Light"/>
                <a:sym typeface="HK Grotesk Light"/>
              </a:rPr>
              <a:t>by</a:t>
            </a:r>
            <a:r>
              <a:rPr lang="en-US" sz="3000" strike="noStrike" u="none">
                <a:solidFill>
                  <a:srgbClr val="F2F2F2"/>
                </a:solidFill>
                <a:latin typeface="HK Grotesk Light"/>
                <a:ea typeface="HK Grotesk Light"/>
                <a:cs typeface="HK Grotesk Light"/>
                <a:sym typeface="HK Grotesk Light"/>
              </a:rPr>
              <a:t> s</a:t>
            </a:r>
            <a:r>
              <a:rPr lang="en-US" sz="3000" strike="noStrike" u="none">
                <a:solidFill>
                  <a:srgbClr val="F2F2F2"/>
                </a:solidFill>
                <a:latin typeface="HK Grotesk Light"/>
                <a:ea typeface="HK Grotesk Light"/>
                <a:cs typeface="HK Grotesk Light"/>
                <a:sym typeface="HK Grotesk Light"/>
              </a:rPr>
              <a:t>p</a:t>
            </a:r>
            <a:r>
              <a:rPr lang="en-US" sz="3000" strike="noStrike" u="none">
                <a:solidFill>
                  <a:srgbClr val="F2F2F2"/>
                </a:solidFill>
                <a:latin typeface="HK Grotesk Light"/>
                <a:ea typeface="HK Grotesk Light"/>
                <a:cs typeface="HK Grotesk Light"/>
                <a:sym typeface="HK Grotesk Light"/>
              </a:rPr>
              <a:t>e</a:t>
            </a:r>
            <a:r>
              <a:rPr lang="en-US" sz="3000" strike="noStrike" u="none">
                <a:solidFill>
                  <a:srgbClr val="F2F2F2"/>
                </a:solidFill>
                <a:latin typeface="HK Grotesk Light"/>
                <a:ea typeface="HK Grotesk Light"/>
                <a:cs typeface="HK Grotesk Light"/>
                <a:sym typeface="HK Grotesk Light"/>
              </a:rPr>
              <a:t>ed</a:t>
            </a:r>
            <a:r>
              <a:rPr lang="en-US" sz="3000" strike="noStrike" u="none">
                <a:solidFill>
                  <a:srgbClr val="F2F2F2"/>
                </a:solidFill>
                <a:latin typeface="HK Grotesk Light"/>
                <a:ea typeface="HK Grotesk Light"/>
                <a:cs typeface="HK Grotesk Light"/>
                <a:sym typeface="HK Grotesk Light"/>
              </a:rPr>
              <a:t> p</a:t>
            </a:r>
            <a:r>
              <a:rPr lang="en-US" sz="3000" strike="noStrike" u="none">
                <a:solidFill>
                  <a:srgbClr val="F2F2F2"/>
                </a:solidFill>
                <a:latin typeface="HK Grotesk Light"/>
                <a:ea typeface="HK Grotesk Light"/>
                <a:cs typeface="HK Grotesk Light"/>
                <a:sym typeface="HK Grotesk Light"/>
              </a:rPr>
              <a:t>ixe</a:t>
            </a:r>
            <a:r>
              <a:rPr lang="en-US" sz="3000" strike="noStrike" u="none">
                <a:solidFill>
                  <a:srgbClr val="F2F2F2"/>
                </a:solidFill>
                <a:latin typeface="HK Grotesk Light"/>
                <a:ea typeface="HK Grotesk Light"/>
                <a:cs typeface="HK Grotesk Light"/>
                <a:sym typeface="HK Grotesk Light"/>
              </a:rPr>
              <a:t>l</a:t>
            </a:r>
            <a:r>
              <a:rPr lang="en-US" sz="3000" strike="noStrike" u="none">
                <a:solidFill>
                  <a:srgbClr val="F2F2F2"/>
                </a:solidFill>
                <a:latin typeface="HK Grotesk Light"/>
                <a:ea typeface="HK Grotesk Light"/>
                <a:cs typeface="HK Grotesk Light"/>
                <a:sym typeface="HK Grotesk Light"/>
              </a:rPr>
              <a:t>s b</a:t>
            </a:r>
            <a:r>
              <a:rPr lang="en-US" sz="3000" strike="noStrike" u="none">
                <a:solidFill>
                  <a:srgbClr val="F2F2F2"/>
                </a:solidFill>
                <a:latin typeface="HK Grotesk Light"/>
                <a:ea typeface="HK Grotesk Light"/>
                <a:cs typeface="HK Grotesk Light"/>
                <a:sym typeface="HK Grotesk Light"/>
              </a:rPr>
              <a:t>e</a:t>
            </a:r>
            <a:r>
              <a:rPr lang="en-US" sz="3000" strike="noStrike" u="none">
                <a:solidFill>
                  <a:srgbClr val="F2F2F2"/>
                </a:solidFill>
                <a:latin typeface="HK Grotesk Light"/>
                <a:ea typeface="HK Grotesk Light"/>
                <a:cs typeface="HK Grotesk Light"/>
                <a:sym typeface="HK Grotesk Light"/>
              </a:rPr>
              <a:t>fo</a:t>
            </a:r>
            <a:r>
              <a:rPr lang="en-US" sz="3000" strike="noStrike" u="none">
                <a:solidFill>
                  <a:srgbClr val="F2F2F2"/>
                </a:solidFill>
                <a:latin typeface="HK Grotesk Light"/>
                <a:ea typeface="HK Grotesk Light"/>
                <a:cs typeface="HK Grotesk Light"/>
                <a:sym typeface="HK Grotesk Light"/>
              </a:rPr>
              <a:t>re</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act</a:t>
            </a:r>
            <a:r>
              <a:rPr lang="en-US" sz="3000" strike="noStrike" u="none">
                <a:solidFill>
                  <a:srgbClr val="F2F2F2"/>
                </a:solidFill>
                <a:latin typeface="HK Grotesk Light"/>
                <a:ea typeface="HK Grotesk Light"/>
                <a:cs typeface="HK Grotesk Light"/>
                <a:sym typeface="HK Grotesk Light"/>
              </a:rPr>
              <a:t>ually m</a:t>
            </a:r>
            <a:r>
              <a:rPr lang="en-US" sz="3000" strike="noStrike" u="none">
                <a:solidFill>
                  <a:srgbClr val="F2F2F2"/>
                </a:solidFill>
                <a:latin typeface="HK Grotesk Light"/>
                <a:ea typeface="HK Grotesk Light"/>
                <a:cs typeface="HK Grotesk Light"/>
                <a:sym typeface="HK Grotesk Light"/>
              </a:rPr>
              <a:t>o</a:t>
            </a:r>
            <a:r>
              <a:rPr lang="en-US" sz="3000" strike="noStrike" u="none">
                <a:solidFill>
                  <a:srgbClr val="F2F2F2"/>
                </a:solidFill>
                <a:latin typeface="HK Grotesk Light"/>
                <a:ea typeface="HK Grotesk Light"/>
                <a:cs typeface="HK Grotesk Light"/>
                <a:sym typeface="HK Grotesk Light"/>
              </a:rPr>
              <a:t>v</a:t>
            </a:r>
            <a:r>
              <a:rPr lang="en-US" sz="3000" strike="noStrike" u="none">
                <a:solidFill>
                  <a:srgbClr val="F2F2F2"/>
                </a:solidFill>
                <a:latin typeface="HK Grotesk Light"/>
                <a:ea typeface="HK Grotesk Light"/>
                <a:cs typeface="HK Grotesk Light"/>
                <a:sym typeface="HK Grotesk Light"/>
              </a:rPr>
              <a:t>ing t</a:t>
            </a:r>
            <a:r>
              <a:rPr lang="en-US" sz="3000" strike="noStrike" u="none">
                <a:solidFill>
                  <a:srgbClr val="F2F2F2"/>
                </a:solidFill>
                <a:latin typeface="HK Grotesk Light"/>
                <a:ea typeface="HK Grotesk Light"/>
                <a:cs typeface="HK Grotesk Light"/>
                <a:sym typeface="HK Grotesk Light"/>
              </a:rPr>
              <a:t>h</a:t>
            </a:r>
            <a:r>
              <a:rPr lang="en-US" sz="3000" strike="noStrike" u="none">
                <a:solidFill>
                  <a:srgbClr val="F2F2F2"/>
                </a:solidFill>
                <a:latin typeface="HK Grotesk Light"/>
                <a:ea typeface="HK Grotesk Light"/>
                <a:cs typeface="HK Grotesk Light"/>
                <a:sym typeface="HK Grotesk Light"/>
              </a:rPr>
              <a:t>e </a:t>
            </a:r>
            <a:r>
              <a:rPr lang="en-US" sz="3000" strike="noStrike" u="none">
                <a:solidFill>
                  <a:srgbClr val="F2F2F2"/>
                </a:solidFill>
                <a:latin typeface="HK Grotesk Light"/>
                <a:ea typeface="HK Grotesk Light"/>
                <a:cs typeface="HK Grotesk Light"/>
                <a:sym typeface="HK Grotesk Light"/>
              </a:rPr>
              <a:t>pl</a:t>
            </a:r>
            <a:r>
              <a:rPr lang="en-US" sz="3000" strike="noStrike" u="none">
                <a:solidFill>
                  <a:srgbClr val="F2F2F2"/>
                </a:solidFill>
                <a:latin typeface="HK Grotesk Light"/>
                <a:ea typeface="HK Grotesk Light"/>
                <a:cs typeface="HK Grotesk Light"/>
                <a:sym typeface="HK Grotesk Light"/>
              </a:rPr>
              <a:t>a</a:t>
            </a:r>
            <a:r>
              <a:rPr lang="en-US" sz="3000" strike="noStrike" u="none">
                <a:solidFill>
                  <a:srgbClr val="F2F2F2"/>
                </a:solidFill>
                <a:latin typeface="HK Grotesk Light"/>
                <a:ea typeface="HK Grotesk Light"/>
                <a:cs typeface="HK Grotesk Light"/>
                <a:sym typeface="HK Grotesk Light"/>
              </a:rPr>
              <a:t>y</a:t>
            </a:r>
            <a:r>
              <a:rPr lang="en-US" sz="3000" strike="noStrike" u="none">
                <a:solidFill>
                  <a:srgbClr val="F2F2F2"/>
                </a:solidFill>
                <a:latin typeface="HK Grotesk Light"/>
                <a:ea typeface="HK Grotesk Light"/>
                <a:cs typeface="HK Grotesk Light"/>
                <a:sym typeface="HK Grotesk Light"/>
              </a:rPr>
              <a:t>er.</a:t>
            </a:r>
          </a:p>
          <a:p>
            <a:pPr algn="l" marL="0" indent="0" lvl="0">
              <a:lnSpc>
                <a:spcPts val="3900"/>
              </a:lnSpc>
            </a:pPr>
          </a:p>
        </p:txBody>
      </p:sp>
      <p:sp>
        <p:nvSpPr>
          <p:cNvPr name="TextBox 6" id="6"/>
          <p:cNvSpPr txBox="true"/>
          <p:nvPr/>
        </p:nvSpPr>
        <p:spPr>
          <a:xfrm rot="0">
            <a:off x="7858125" y="5105400"/>
            <a:ext cx="6886575" cy="3962400"/>
          </a:xfrm>
          <a:prstGeom prst="rect">
            <a:avLst/>
          </a:prstGeom>
        </p:spPr>
        <p:txBody>
          <a:bodyPr anchor="t" rtlCol="false" tIns="0" lIns="0" bIns="0" rIns="0">
            <a:spAutoFit/>
          </a:bodyPr>
          <a:lstStyle/>
          <a:p>
            <a:pPr algn="l" marL="647700" indent="-323850" lvl="1">
              <a:lnSpc>
                <a:spcPts val="3900"/>
              </a:lnSpc>
              <a:buFont typeface="Arial"/>
              <a:buChar char="•"/>
            </a:pPr>
            <a:r>
              <a:rPr lang="en-US" b="true" sz="3000">
                <a:solidFill>
                  <a:srgbClr val="F2F2F2"/>
                </a:solidFill>
                <a:latin typeface="HK Grotesk Bold"/>
                <a:ea typeface="HK Grotesk Bold"/>
                <a:cs typeface="HK Grotesk Bold"/>
                <a:sym typeface="HK Grotesk Bold"/>
              </a:rPr>
              <a:t>Ch</a:t>
            </a:r>
            <a:r>
              <a:rPr lang="en-US" b="true" sz="3000" strike="noStrike" u="none">
                <a:solidFill>
                  <a:srgbClr val="F2F2F2"/>
                </a:solidFill>
                <a:latin typeface="HK Grotesk Bold"/>
                <a:ea typeface="HK Grotesk Bold"/>
                <a:cs typeface="HK Grotesk Bold"/>
                <a:sym typeface="HK Grotesk Bold"/>
              </a:rPr>
              <a:t>a</a:t>
            </a:r>
            <a:r>
              <a:rPr lang="en-US" b="true" sz="3000" strike="noStrike" u="none">
                <a:solidFill>
                  <a:srgbClr val="F2F2F2"/>
                </a:solidFill>
                <a:latin typeface="HK Grotesk Bold"/>
                <a:ea typeface="HK Grotesk Bold"/>
                <a:cs typeface="HK Grotesk Bold"/>
                <a:sym typeface="HK Grotesk Bold"/>
              </a:rPr>
              <a:t>ll</a:t>
            </a:r>
            <a:r>
              <a:rPr lang="en-US" b="true" sz="3000" strike="noStrike" u="none">
                <a:solidFill>
                  <a:srgbClr val="F2F2F2"/>
                </a:solidFill>
                <a:latin typeface="HK Grotesk Bold"/>
                <a:ea typeface="HK Grotesk Bold"/>
                <a:cs typeface="HK Grotesk Bold"/>
                <a:sym typeface="HK Grotesk Bold"/>
              </a:rPr>
              <a:t>enge</a:t>
            </a:r>
            <a:r>
              <a:rPr lang="en-US" b="true" sz="3000" strike="noStrike" u="none">
                <a:solidFill>
                  <a:srgbClr val="F2F2F2"/>
                </a:solidFill>
                <a:latin typeface="HK Grotesk Bold"/>
                <a:ea typeface="HK Grotesk Bold"/>
                <a:cs typeface="HK Grotesk Bold"/>
                <a:sym typeface="HK Grotesk Bold"/>
              </a:rPr>
              <a:t>:</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Th</a:t>
            </a:r>
            <a:r>
              <a:rPr lang="en-US" sz="3000" strike="noStrike" u="none">
                <a:solidFill>
                  <a:srgbClr val="F2F2F2"/>
                </a:solidFill>
                <a:latin typeface="HK Grotesk Light"/>
                <a:ea typeface="HK Grotesk Light"/>
                <a:cs typeface="HK Grotesk Light"/>
                <a:sym typeface="HK Grotesk Light"/>
              </a:rPr>
              <a:t>e</a:t>
            </a:r>
            <a:r>
              <a:rPr lang="en-US" sz="3000" strike="noStrike" u="none">
                <a:solidFill>
                  <a:srgbClr val="F2F2F2"/>
                </a:solidFill>
                <a:latin typeface="HK Grotesk Light"/>
                <a:ea typeface="HK Grotesk Light"/>
                <a:cs typeface="HK Grotesk Light"/>
                <a:sym typeface="HK Grotesk Light"/>
              </a:rPr>
              <a:t> "I</a:t>
            </a:r>
            <a:r>
              <a:rPr lang="en-US" sz="3000" strike="noStrike" u="none">
                <a:solidFill>
                  <a:srgbClr val="F2F2F2"/>
                </a:solidFill>
                <a:latin typeface="HK Grotesk Light"/>
                <a:ea typeface="HK Grotesk Light"/>
                <a:cs typeface="HK Grotesk Light"/>
                <a:sym typeface="HK Grotesk Light"/>
              </a:rPr>
              <a:t>n</a:t>
            </a:r>
            <a:r>
              <a:rPr lang="en-US" sz="3000" strike="noStrike" u="none">
                <a:solidFill>
                  <a:srgbClr val="F2F2F2"/>
                </a:solidFill>
                <a:latin typeface="HK Grotesk Light"/>
                <a:ea typeface="HK Grotesk Light"/>
                <a:cs typeface="HK Grotesk Light"/>
                <a:sym typeface="HK Grotesk Light"/>
              </a:rPr>
              <a:t>v</a:t>
            </a:r>
            <a:r>
              <a:rPr lang="en-US" sz="3000" strike="noStrike" u="none">
                <a:solidFill>
                  <a:srgbClr val="F2F2F2"/>
                </a:solidFill>
                <a:latin typeface="HK Grotesk Light"/>
                <a:ea typeface="HK Grotesk Light"/>
                <a:cs typeface="HK Grotesk Light"/>
                <a:sym typeface="HK Grotesk Light"/>
              </a:rPr>
              <a:t>is</a:t>
            </a:r>
            <a:r>
              <a:rPr lang="en-US" sz="3000" strike="noStrike" u="none">
                <a:solidFill>
                  <a:srgbClr val="F2F2F2"/>
                </a:solidFill>
                <a:latin typeface="HK Grotesk Light"/>
                <a:ea typeface="HK Grotesk Light"/>
                <a:cs typeface="HK Grotesk Light"/>
                <a:sym typeface="HK Grotesk Light"/>
              </a:rPr>
              <a:t>i</a:t>
            </a:r>
            <a:r>
              <a:rPr lang="en-US" sz="3000" strike="noStrike" u="none">
                <a:solidFill>
                  <a:srgbClr val="F2F2F2"/>
                </a:solidFill>
                <a:latin typeface="HK Grotesk Light"/>
                <a:ea typeface="HK Grotesk Light"/>
                <a:cs typeface="HK Grotesk Light"/>
                <a:sym typeface="HK Grotesk Light"/>
              </a:rPr>
              <a:t>b</a:t>
            </a:r>
            <a:r>
              <a:rPr lang="en-US" sz="3000" strike="noStrike" u="none">
                <a:solidFill>
                  <a:srgbClr val="F2F2F2"/>
                </a:solidFill>
                <a:latin typeface="HK Grotesk Light"/>
                <a:ea typeface="HK Grotesk Light"/>
                <a:cs typeface="HK Grotesk Light"/>
                <a:sym typeface="HK Grotesk Light"/>
              </a:rPr>
              <a:t>le</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M</a:t>
            </a:r>
            <a:r>
              <a:rPr lang="en-US" sz="3000" strike="noStrike" u="none">
                <a:solidFill>
                  <a:srgbClr val="F2F2F2"/>
                </a:solidFill>
                <a:latin typeface="HK Grotesk Light"/>
                <a:ea typeface="HK Grotesk Light"/>
                <a:cs typeface="HK Grotesk Light"/>
                <a:sym typeface="HK Grotesk Light"/>
              </a:rPr>
              <a:t>an</a:t>
            </a:r>
            <a:r>
              <a:rPr lang="en-US" sz="3000" strike="noStrike" u="none">
                <a:solidFill>
                  <a:srgbClr val="F2F2F2"/>
                </a:solidFill>
                <a:latin typeface="HK Grotesk Light"/>
                <a:ea typeface="HK Grotesk Light"/>
                <a:cs typeface="HK Grotesk Light"/>
                <a:sym typeface="HK Grotesk Light"/>
              </a:rPr>
              <a:t>"</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enemy needed to blink</a:t>
            </a:r>
            <a:r>
              <a:rPr lang="en-US" sz="3000" strike="noStrike" u="none">
                <a:solidFill>
                  <a:srgbClr val="F2F2F2"/>
                </a:solidFill>
                <a:latin typeface="HK Grotesk Light"/>
                <a:ea typeface="HK Grotesk Light"/>
                <a:cs typeface="HK Grotesk Light"/>
                <a:sym typeface="HK Grotesk Light"/>
              </a:rPr>
              <a:t> wi</a:t>
            </a:r>
            <a:r>
              <a:rPr lang="en-US" sz="3000" strike="noStrike" u="none">
                <a:solidFill>
                  <a:srgbClr val="F2F2F2"/>
                </a:solidFill>
                <a:latin typeface="HK Grotesk Light"/>
                <a:ea typeface="HK Grotesk Light"/>
                <a:cs typeface="HK Grotesk Light"/>
                <a:sym typeface="HK Grotesk Light"/>
              </a:rPr>
              <a:t>t</a:t>
            </a:r>
            <a:r>
              <a:rPr lang="en-US" sz="3000" strike="noStrike" u="none">
                <a:solidFill>
                  <a:srgbClr val="F2F2F2"/>
                </a:solidFill>
                <a:latin typeface="HK Grotesk Light"/>
                <a:ea typeface="HK Grotesk Light"/>
                <a:cs typeface="HK Grotesk Light"/>
                <a:sym typeface="HK Grotesk Light"/>
              </a:rPr>
              <a:t>h</a:t>
            </a:r>
            <a:r>
              <a:rPr lang="en-US" sz="3000" strike="noStrike" u="none">
                <a:solidFill>
                  <a:srgbClr val="F2F2F2"/>
                </a:solidFill>
                <a:latin typeface="HK Grotesk Light"/>
                <a:ea typeface="HK Grotesk Light"/>
                <a:cs typeface="HK Grotesk Light"/>
                <a:sym typeface="HK Grotesk Light"/>
              </a:rPr>
              <a:t>out</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d</a:t>
            </a:r>
            <a:r>
              <a:rPr lang="en-US" sz="3000" strike="noStrike" u="none">
                <a:solidFill>
                  <a:srgbClr val="F2F2F2"/>
                </a:solidFill>
                <a:latin typeface="HK Grotesk Light"/>
                <a:ea typeface="HK Grotesk Light"/>
                <a:cs typeface="HK Grotesk Light"/>
                <a:sym typeface="HK Grotesk Light"/>
              </a:rPr>
              <a:t>i</a:t>
            </a:r>
            <a:r>
              <a:rPr lang="en-US" sz="3000" strike="noStrike" u="none">
                <a:solidFill>
                  <a:srgbClr val="F2F2F2"/>
                </a:solidFill>
                <a:latin typeface="HK Grotesk Light"/>
                <a:ea typeface="HK Grotesk Light"/>
                <a:cs typeface="HK Grotesk Light"/>
                <a:sym typeface="HK Grotesk Light"/>
              </a:rPr>
              <a:t>sap</a:t>
            </a:r>
            <a:r>
              <a:rPr lang="en-US" sz="3000" strike="noStrike" u="none">
                <a:solidFill>
                  <a:srgbClr val="F2F2F2"/>
                </a:solidFill>
                <a:latin typeface="HK Grotesk Light"/>
                <a:ea typeface="HK Grotesk Light"/>
                <a:cs typeface="HK Grotesk Light"/>
                <a:sym typeface="HK Grotesk Light"/>
              </a:rPr>
              <a:t>p</a:t>
            </a:r>
            <a:r>
              <a:rPr lang="en-US" sz="3000" strike="noStrike" u="none">
                <a:solidFill>
                  <a:srgbClr val="F2F2F2"/>
                </a:solidFill>
                <a:latin typeface="HK Grotesk Light"/>
                <a:ea typeface="HK Grotesk Light"/>
                <a:cs typeface="HK Grotesk Light"/>
                <a:sym typeface="HK Grotesk Light"/>
              </a:rPr>
              <a:t>ea</a:t>
            </a:r>
            <a:r>
              <a:rPr lang="en-US" sz="3000" strike="noStrike" u="none">
                <a:solidFill>
                  <a:srgbClr val="F2F2F2"/>
                </a:solidFill>
                <a:latin typeface="HK Grotesk Light"/>
                <a:ea typeface="HK Grotesk Light"/>
                <a:cs typeface="HK Grotesk Light"/>
                <a:sym typeface="HK Grotesk Light"/>
              </a:rPr>
              <a:t>r</a:t>
            </a:r>
            <a:r>
              <a:rPr lang="en-US" sz="3000" strike="noStrike" u="none">
                <a:solidFill>
                  <a:srgbClr val="F2F2F2"/>
                </a:solidFill>
                <a:latin typeface="HK Grotesk Light"/>
                <a:ea typeface="HK Grotesk Light"/>
                <a:cs typeface="HK Grotesk Light"/>
                <a:sym typeface="HK Grotesk Light"/>
              </a:rPr>
              <a:t>ing f</a:t>
            </a:r>
            <a:r>
              <a:rPr lang="en-US" sz="3000" strike="noStrike" u="none">
                <a:solidFill>
                  <a:srgbClr val="F2F2F2"/>
                </a:solidFill>
                <a:latin typeface="HK Grotesk Light"/>
                <a:ea typeface="HK Grotesk Light"/>
                <a:cs typeface="HK Grotesk Light"/>
                <a:sym typeface="HK Grotesk Light"/>
              </a:rPr>
              <a:t>o</a:t>
            </a:r>
            <a:r>
              <a:rPr lang="en-US" sz="3000" strike="noStrike" u="none">
                <a:solidFill>
                  <a:srgbClr val="F2F2F2"/>
                </a:solidFill>
                <a:latin typeface="HK Grotesk Light"/>
                <a:ea typeface="HK Grotesk Light"/>
                <a:cs typeface="HK Grotesk Light"/>
                <a:sym typeface="HK Grotesk Light"/>
              </a:rPr>
              <a:t>r e</a:t>
            </a:r>
            <a:r>
              <a:rPr lang="en-US" sz="3000" strike="noStrike" u="none">
                <a:solidFill>
                  <a:srgbClr val="F2F2F2"/>
                </a:solidFill>
                <a:latin typeface="HK Grotesk Light"/>
                <a:ea typeface="HK Grotesk Light"/>
                <a:cs typeface="HK Grotesk Light"/>
                <a:sym typeface="HK Grotesk Light"/>
              </a:rPr>
              <a:t>ve</a:t>
            </a:r>
            <a:r>
              <a:rPr lang="en-US" sz="3000" strike="noStrike" u="none">
                <a:solidFill>
                  <a:srgbClr val="F2F2F2"/>
                </a:solidFill>
                <a:latin typeface="HK Grotesk Light"/>
                <a:ea typeface="HK Grotesk Light"/>
                <a:cs typeface="HK Grotesk Light"/>
                <a:sym typeface="HK Grotesk Light"/>
              </a:rPr>
              <a:t>ryone</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si</a:t>
            </a:r>
            <a:r>
              <a:rPr lang="en-US" sz="3000" strike="noStrike" u="none">
                <a:solidFill>
                  <a:srgbClr val="F2F2F2"/>
                </a:solidFill>
                <a:latin typeface="HK Grotesk Light"/>
                <a:ea typeface="HK Grotesk Light"/>
                <a:cs typeface="HK Grotesk Light"/>
                <a:sym typeface="HK Grotesk Light"/>
              </a:rPr>
              <a:t>m</a:t>
            </a:r>
            <a:r>
              <a:rPr lang="en-US" sz="3000" strike="noStrike" u="none">
                <a:solidFill>
                  <a:srgbClr val="F2F2F2"/>
                </a:solidFill>
                <a:latin typeface="HK Grotesk Light"/>
                <a:ea typeface="HK Grotesk Light"/>
                <a:cs typeface="HK Grotesk Light"/>
                <a:sym typeface="HK Grotesk Light"/>
              </a:rPr>
              <a:t>ult</a:t>
            </a:r>
            <a:r>
              <a:rPr lang="en-US" sz="3000" strike="noStrike" u="none">
                <a:solidFill>
                  <a:srgbClr val="F2F2F2"/>
                </a:solidFill>
                <a:latin typeface="HK Grotesk Light"/>
                <a:ea typeface="HK Grotesk Light"/>
                <a:cs typeface="HK Grotesk Light"/>
                <a:sym typeface="HK Grotesk Light"/>
              </a:rPr>
              <a:t>a</a:t>
            </a:r>
            <a:r>
              <a:rPr lang="en-US" sz="3000" strike="noStrike" u="none">
                <a:solidFill>
                  <a:srgbClr val="F2F2F2"/>
                </a:solidFill>
                <a:latin typeface="HK Grotesk Light"/>
                <a:ea typeface="HK Grotesk Light"/>
                <a:cs typeface="HK Grotesk Light"/>
                <a:sym typeface="HK Grotesk Light"/>
              </a:rPr>
              <a:t>neously.</a:t>
            </a:r>
          </a:p>
          <a:p>
            <a:pPr algn="l" marL="0" indent="0" lvl="0">
              <a:lnSpc>
                <a:spcPts val="3900"/>
              </a:lnSpc>
            </a:pPr>
            <a:r>
              <a:rPr lang="en-US" b="true" sz="3000" strike="noStrike" u="none">
                <a:solidFill>
                  <a:srgbClr val="F2F2F2"/>
                </a:solidFill>
                <a:latin typeface="HK Grotesk Bold"/>
                <a:ea typeface="HK Grotesk Bold"/>
                <a:cs typeface="HK Grotesk Bold"/>
                <a:sym typeface="HK Grotesk Bold"/>
              </a:rPr>
              <a:t>Solut</a:t>
            </a:r>
            <a:r>
              <a:rPr lang="en-US" b="true" sz="3000" strike="noStrike" u="none">
                <a:solidFill>
                  <a:srgbClr val="F2F2F2"/>
                </a:solidFill>
                <a:latin typeface="HK Grotesk Bold"/>
                <a:ea typeface="HK Grotesk Bold"/>
                <a:cs typeface="HK Grotesk Bold"/>
                <a:sym typeface="HK Grotesk Bold"/>
              </a:rPr>
              <a:t>i</a:t>
            </a:r>
            <a:r>
              <a:rPr lang="en-US" b="true" sz="3000" strike="noStrike" u="none">
                <a:solidFill>
                  <a:srgbClr val="F2F2F2"/>
                </a:solidFill>
                <a:latin typeface="HK Grotesk Bold"/>
                <a:ea typeface="HK Grotesk Bold"/>
                <a:cs typeface="HK Grotesk Bold"/>
                <a:sym typeface="HK Grotesk Bold"/>
              </a:rPr>
              <a:t>o</a:t>
            </a:r>
            <a:r>
              <a:rPr lang="en-US" b="true" sz="3000" strike="noStrike" u="none">
                <a:solidFill>
                  <a:srgbClr val="F2F2F2"/>
                </a:solidFill>
                <a:latin typeface="HK Grotesk Bold"/>
                <a:ea typeface="HK Grotesk Bold"/>
                <a:cs typeface="HK Grotesk Bold"/>
                <a:sym typeface="HK Grotesk Bold"/>
              </a:rPr>
              <a:t>n</a:t>
            </a:r>
            <a:r>
              <a:rPr lang="en-US" b="true" sz="3000" strike="noStrike" u="none">
                <a:solidFill>
                  <a:srgbClr val="F2F2F2"/>
                </a:solidFill>
                <a:latin typeface="HK Grotesk Bold"/>
                <a:ea typeface="HK Grotesk Bold"/>
                <a:cs typeface="HK Grotesk Bold"/>
                <a:sym typeface="HK Grotesk Bold"/>
              </a:rPr>
              <a:t>:</a:t>
            </a:r>
            <a:r>
              <a:rPr lang="en-US" sz="3000" strike="noStrike" u="none">
                <a:solidFill>
                  <a:srgbClr val="F2F2F2"/>
                </a:solidFill>
                <a:latin typeface="HK Grotesk Light"/>
                <a:ea typeface="HK Grotesk Light"/>
                <a:cs typeface="HK Grotesk Light"/>
                <a:sym typeface="HK Grotesk Light"/>
              </a:rPr>
              <a:t> In </a:t>
            </a:r>
            <a:r>
              <a:rPr lang="en-US" sz="3000" strike="noStrike" u="none">
                <a:solidFill>
                  <a:srgbClr val="F2F2F2"/>
                </a:solidFill>
                <a:latin typeface="HK Grotesk Light"/>
                <a:ea typeface="HK Grotesk Light"/>
                <a:cs typeface="HK Grotesk Light"/>
                <a:sym typeface="HK Grotesk Light"/>
              </a:rPr>
              <a:t>t</a:t>
            </a:r>
            <a:r>
              <a:rPr lang="en-US" sz="3000" strike="noStrike" u="none">
                <a:solidFill>
                  <a:srgbClr val="F2F2F2"/>
                </a:solidFill>
                <a:latin typeface="HK Grotesk Light"/>
                <a:ea typeface="HK Grotesk Light"/>
                <a:cs typeface="HK Grotesk Light"/>
                <a:sym typeface="HK Grotesk Light"/>
              </a:rPr>
              <a:t>he </a:t>
            </a:r>
            <a:r>
              <a:rPr lang="en-US" sz="3000" strike="noStrike" u="none">
                <a:solidFill>
                  <a:srgbClr val="F2F2F2"/>
                </a:solidFill>
                <a:latin typeface="HK Grotesk Light"/>
                <a:ea typeface="HK Grotesk Light"/>
                <a:cs typeface="HK Grotesk Light"/>
                <a:sym typeface="HK Grotesk Light"/>
              </a:rPr>
              <a:t>in</a:t>
            </a:r>
            <a:r>
              <a:rPr lang="en-US" sz="3000" strike="noStrike" u="none">
                <a:solidFill>
                  <a:srgbClr val="F2F2F2"/>
                </a:solidFill>
                <a:latin typeface="HK Grotesk Light"/>
                <a:ea typeface="HK Grotesk Light"/>
                <a:cs typeface="HK Grotesk Light"/>
                <a:sym typeface="HK Grotesk Light"/>
              </a:rPr>
              <a:t>iti</a:t>
            </a:r>
            <a:r>
              <a:rPr lang="en-US" sz="3000" strike="noStrike" u="none">
                <a:solidFill>
                  <a:srgbClr val="F2F2F2"/>
                </a:solidFill>
                <a:latin typeface="HK Grotesk Light"/>
                <a:ea typeface="HK Grotesk Light"/>
                <a:cs typeface="HK Grotesk Light"/>
                <a:sym typeface="HK Grotesk Light"/>
              </a:rPr>
              <a:t>ali</a:t>
            </a:r>
            <a:r>
              <a:rPr lang="en-US" sz="3000" strike="noStrike" u="none">
                <a:solidFill>
                  <a:srgbClr val="F2F2F2"/>
                </a:solidFill>
                <a:latin typeface="HK Grotesk Light"/>
                <a:ea typeface="HK Grotesk Light"/>
                <a:cs typeface="HK Grotesk Light"/>
                <a:sym typeface="HK Grotesk Light"/>
              </a:rPr>
              <a:t>z</a:t>
            </a:r>
            <a:r>
              <a:rPr lang="en-US" sz="3000" strike="noStrike" u="none">
                <a:solidFill>
                  <a:srgbClr val="F2F2F2"/>
                </a:solidFill>
                <a:latin typeface="HK Grotesk Light"/>
                <a:ea typeface="HK Grotesk Light"/>
                <a:cs typeface="HK Grotesk Light"/>
                <a:sym typeface="HK Grotesk Light"/>
              </a:rPr>
              <a:t>a</a:t>
            </a:r>
            <a:r>
              <a:rPr lang="en-US" sz="3000" strike="noStrike" u="none">
                <a:solidFill>
                  <a:srgbClr val="F2F2F2"/>
                </a:solidFill>
                <a:latin typeface="HK Grotesk Light"/>
                <a:ea typeface="HK Grotesk Light"/>
                <a:cs typeface="HK Grotesk Light"/>
                <a:sym typeface="HK Grotesk Light"/>
              </a:rPr>
              <a:t>tio</a:t>
            </a:r>
            <a:r>
              <a:rPr lang="en-US" sz="3000" strike="noStrike" u="none">
                <a:solidFill>
                  <a:srgbClr val="F2F2F2"/>
                </a:solidFill>
                <a:latin typeface="HK Grotesk Light"/>
                <a:ea typeface="HK Grotesk Light"/>
                <a:cs typeface="HK Grotesk Light"/>
                <a:sym typeface="HK Grotesk Light"/>
              </a:rPr>
              <a:t>n l</a:t>
            </a:r>
            <a:r>
              <a:rPr lang="en-US" sz="3000" strike="noStrike" u="none">
                <a:solidFill>
                  <a:srgbClr val="F2F2F2"/>
                </a:solidFill>
                <a:latin typeface="HK Grotesk Light"/>
                <a:ea typeface="HK Grotesk Light"/>
                <a:cs typeface="HK Grotesk Light"/>
                <a:sym typeface="HK Grotesk Light"/>
              </a:rPr>
              <a:t>oop, w</a:t>
            </a:r>
            <a:r>
              <a:rPr lang="en-US" sz="3000" strike="noStrike" u="none">
                <a:solidFill>
                  <a:srgbClr val="F2F2F2"/>
                </a:solidFill>
                <a:latin typeface="HK Grotesk Light"/>
                <a:ea typeface="HK Grotesk Light"/>
                <a:cs typeface="HK Grotesk Light"/>
                <a:sym typeface="HK Grotesk Light"/>
              </a:rPr>
              <a:t>e as</a:t>
            </a:r>
            <a:r>
              <a:rPr lang="en-US" sz="3000" strike="noStrike" u="none">
                <a:solidFill>
                  <a:srgbClr val="F2F2F2"/>
                </a:solidFill>
                <a:latin typeface="HK Grotesk Light"/>
                <a:ea typeface="HK Grotesk Light"/>
                <a:cs typeface="HK Grotesk Light"/>
                <a:sym typeface="HK Grotesk Light"/>
              </a:rPr>
              <a:t>s</a:t>
            </a:r>
            <a:r>
              <a:rPr lang="en-US" sz="3000" strike="noStrike" u="none">
                <a:solidFill>
                  <a:srgbClr val="F2F2F2"/>
                </a:solidFill>
                <a:latin typeface="HK Grotesk Light"/>
                <a:ea typeface="HK Grotesk Light"/>
                <a:cs typeface="HK Grotesk Light"/>
                <a:sym typeface="HK Grotesk Light"/>
              </a:rPr>
              <a:t>i</a:t>
            </a:r>
            <a:r>
              <a:rPr lang="en-US" sz="3000" strike="noStrike" u="none">
                <a:solidFill>
                  <a:srgbClr val="F2F2F2"/>
                </a:solidFill>
                <a:latin typeface="HK Grotesk Light"/>
                <a:ea typeface="HK Grotesk Light"/>
                <a:cs typeface="HK Grotesk Light"/>
                <a:sym typeface="HK Grotesk Light"/>
              </a:rPr>
              <a:t>gn</a:t>
            </a:r>
            <a:r>
              <a:rPr lang="en-US" sz="3000" strike="noStrike" u="none">
                <a:solidFill>
                  <a:srgbClr val="F2F2F2"/>
                </a:solidFill>
                <a:latin typeface="HK Grotesk Light"/>
                <a:ea typeface="HK Grotesk Light"/>
                <a:cs typeface="HK Grotesk Light"/>
                <a:sym typeface="HK Grotesk Light"/>
              </a:rPr>
              <a:t>ed</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a </a:t>
            </a:r>
            <a:r>
              <a:rPr lang="en-US" sz="3000" strike="noStrike" u="none">
                <a:solidFill>
                  <a:srgbClr val="F2F2F2"/>
                </a:solidFill>
                <a:latin typeface="HK Grotesk Light"/>
                <a:ea typeface="HK Grotesk Light"/>
                <a:cs typeface="HK Grotesk Light"/>
                <a:sym typeface="HK Grotesk Light"/>
              </a:rPr>
              <a:t>r</a:t>
            </a:r>
            <a:r>
              <a:rPr lang="en-US" sz="3000" strike="noStrike" u="none">
                <a:solidFill>
                  <a:srgbClr val="F2F2F2"/>
                </a:solidFill>
                <a:latin typeface="HK Grotesk Light"/>
                <a:ea typeface="HK Grotesk Light"/>
                <a:cs typeface="HK Grotesk Light"/>
                <a:sym typeface="HK Grotesk Light"/>
              </a:rPr>
              <a:t>and</a:t>
            </a:r>
            <a:r>
              <a:rPr lang="en-US" sz="3000" strike="noStrike" u="none">
                <a:solidFill>
                  <a:srgbClr val="F2F2F2"/>
                </a:solidFill>
                <a:latin typeface="HK Grotesk Light"/>
                <a:ea typeface="HK Grotesk Light"/>
                <a:cs typeface="HK Grotesk Light"/>
                <a:sym typeface="HK Grotesk Light"/>
              </a:rPr>
              <a:t>om</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starti</a:t>
            </a:r>
            <a:r>
              <a:rPr lang="en-US" sz="3000" strike="noStrike" u="none">
                <a:solidFill>
                  <a:srgbClr val="F2F2F2"/>
                </a:solidFill>
                <a:latin typeface="HK Grotesk Light"/>
                <a:ea typeface="HK Grotesk Light"/>
                <a:cs typeface="HK Grotesk Light"/>
                <a:sym typeface="HK Grotesk Light"/>
              </a:rPr>
              <a:t>n</a:t>
            </a:r>
            <a:r>
              <a:rPr lang="en-US" sz="3000" strike="noStrike" u="none">
                <a:solidFill>
                  <a:srgbClr val="F2F2F2"/>
                </a:solidFill>
                <a:latin typeface="HK Grotesk Light"/>
                <a:ea typeface="HK Grotesk Light"/>
                <a:cs typeface="HK Grotesk Light"/>
                <a:sym typeface="HK Grotesk Light"/>
              </a:rPr>
              <a:t>g v</a:t>
            </a:r>
            <a:r>
              <a:rPr lang="en-US" sz="3000" strike="noStrike" u="none">
                <a:solidFill>
                  <a:srgbClr val="F2F2F2"/>
                </a:solidFill>
                <a:latin typeface="HK Grotesk Light"/>
                <a:ea typeface="HK Grotesk Light"/>
                <a:cs typeface="HK Grotesk Light"/>
                <a:sym typeface="HK Grotesk Light"/>
              </a:rPr>
              <a:t>a</a:t>
            </a:r>
            <a:r>
              <a:rPr lang="en-US" sz="3000" strike="noStrike" u="none">
                <a:solidFill>
                  <a:srgbClr val="F2F2F2"/>
                </a:solidFill>
                <a:latin typeface="HK Grotesk Light"/>
                <a:ea typeface="HK Grotesk Light"/>
                <a:cs typeface="HK Grotesk Light"/>
                <a:sym typeface="HK Grotesk Light"/>
              </a:rPr>
              <a:t>lue to i</a:t>
            </a:r>
            <a:r>
              <a:rPr lang="en-US" sz="3000" strike="noStrike" u="none">
                <a:solidFill>
                  <a:srgbClr val="F2F2F2"/>
                </a:solidFill>
                <a:latin typeface="HK Grotesk Light"/>
                <a:ea typeface="HK Grotesk Light"/>
                <a:cs typeface="HK Grotesk Light"/>
                <a:sym typeface="HK Grotesk Light"/>
              </a:rPr>
              <a:t>n</a:t>
            </a:r>
            <a:r>
              <a:rPr lang="en-US" sz="3000" strike="noStrike" u="none">
                <a:solidFill>
                  <a:srgbClr val="F2F2F2"/>
                </a:solidFill>
                <a:latin typeface="HK Grotesk Light"/>
                <a:ea typeface="HK Grotesk Light"/>
                <a:cs typeface="HK Grotesk Light"/>
                <a:sym typeface="HK Grotesk Light"/>
              </a:rPr>
              <a:t>v_vis_ti</a:t>
            </a:r>
            <a:r>
              <a:rPr lang="en-US" sz="3000" strike="noStrike" u="none">
                <a:solidFill>
                  <a:srgbClr val="F2F2F2"/>
                </a:solidFill>
                <a:latin typeface="HK Grotesk Light"/>
                <a:ea typeface="HK Grotesk Light"/>
                <a:cs typeface="HK Grotesk Light"/>
                <a:sym typeface="HK Grotesk Light"/>
              </a:rPr>
              <a:t>m</a:t>
            </a:r>
            <a:r>
              <a:rPr lang="en-US" sz="3000" strike="noStrike" u="none">
                <a:solidFill>
                  <a:srgbClr val="F2F2F2"/>
                </a:solidFill>
                <a:latin typeface="HK Grotesk Light"/>
                <a:ea typeface="HK Grotesk Light"/>
                <a:cs typeface="HK Grotesk Light"/>
                <a:sym typeface="HK Grotesk Light"/>
              </a:rPr>
              <a:t>er[i], </a:t>
            </a:r>
            <a:r>
              <a:rPr lang="en-US" sz="3000" strike="noStrike" u="none">
                <a:solidFill>
                  <a:srgbClr val="F2F2F2"/>
                </a:solidFill>
                <a:latin typeface="HK Grotesk Light"/>
                <a:ea typeface="HK Grotesk Light"/>
                <a:cs typeface="HK Grotesk Light"/>
                <a:sym typeface="HK Grotesk Light"/>
              </a:rPr>
              <a:t>ens</a:t>
            </a:r>
            <a:r>
              <a:rPr lang="en-US" sz="3000" strike="noStrike" u="none">
                <a:solidFill>
                  <a:srgbClr val="F2F2F2"/>
                </a:solidFill>
                <a:latin typeface="HK Grotesk Light"/>
                <a:ea typeface="HK Grotesk Light"/>
                <a:cs typeface="HK Grotesk Light"/>
                <a:sym typeface="HK Grotesk Light"/>
              </a:rPr>
              <a:t>u</a:t>
            </a:r>
            <a:r>
              <a:rPr lang="en-US" sz="3000" strike="noStrike" u="none">
                <a:solidFill>
                  <a:srgbClr val="F2F2F2"/>
                </a:solidFill>
                <a:latin typeface="HK Grotesk Light"/>
                <a:ea typeface="HK Grotesk Light"/>
                <a:cs typeface="HK Grotesk Light"/>
                <a:sym typeface="HK Grotesk Light"/>
              </a:rPr>
              <a:t>r</a:t>
            </a:r>
            <a:r>
              <a:rPr lang="en-US" sz="3000" strike="noStrike" u="none">
                <a:solidFill>
                  <a:srgbClr val="F2F2F2"/>
                </a:solidFill>
                <a:latin typeface="HK Grotesk Light"/>
                <a:ea typeface="HK Grotesk Light"/>
                <a:cs typeface="HK Grotesk Light"/>
                <a:sym typeface="HK Grotesk Light"/>
              </a:rPr>
              <a:t>ing</a:t>
            </a:r>
            <a:r>
              <a:rPr lang="en-US" sz="3000" strike="noStrike" u="none">
                <a:solidFill>
                  <a:srgbClr val="F2F2F2"/>
                </a:solidFill>
                <a:latin typeface="HK Grotesk Light"/>
                <a:ea typeface="HK Grotesk Light"/>
                <a:cs typeface="HK Grotesk Light"/>
                <a:sym typeface="HK Grotesk Light"/>
              </a:rPr>
              <a:t> t</a:t>
            </a:r>
            <a:r>
              <a:rPr lang="en-US" sz="3000" strike="noStrike" u="none">
                <a:solidFill>
                  <a:srgbClr val="F2F2F2"/>
                </a:solidFill>
                <a:latin typeface="HK Grotesk Light"/>
                <a:ea typeface="HK Grotesk Light"/>
                <a:cs typeface="HK Grotesk Light"/>
                <a:sym typeface="HK Grotesk Light"/>
              </a:rPr>
              <a:t>hei</a:t>
            </a:r>
            <a:r>
              <a:rPr lang="en-US" sz="3000" strike="noStrike" u="none">
                <a:solidFill>
                  <a:srgbClr val="F2F2F2"/>
                </a:solidFill>
                <a:latin typeface="HK Grotesk Light"/>
                <a:ea typeface="HK Grotesk Light"/>
                <a:cs typeface="HK Grotesk Light"/>
                <a:sym typeface="HK Grotesk Light"/>
              </a:rPr>
              <a:t>r </a:t>
            </a:r>
            <a:r>
              <a:rPr lang="en-US" sz="3000" strike="noStrike" u="none">
                <a:solidFill>
                  <a:srgbClr val="F2F2F2"/>
                </a:solidFill>
                <a:latin typeface="HK Grotesk Light"/>
                <a:ea typeface="HK Grotesk Light"/>
                <a:cs typeface="HK Grotesk Light"/>
                <a:sym typeface="HK Grotesk Light"/>
              </a:rPr>
              <a:t>invisibility cycl</a:t>
            </a:r>
            <a:r>
              <a:rPr lang="en-US" sz="3000" strike="noStrike" u="none">
                <a:solidFill>
                  <a:srgbClr val="F2F2F2"/>
                </a:solidFill>
                <a:latin typeface="HK Grotesk Light"/>
                <a:ea typeface="HK Grotesk Light"/>
                <a:cs typeface="HK Grotesk Light"/>
                <a:sym typeface="HK Grotesk Light"/>
              </a:rPr>
              <a:t>e</a:t>
            </a:r>
            <a:r>
              <a:rPr lang="en-US" sz="3000" strike="noStrike" u="none">
                <a:solidFill>
                  <a:srgbClr val="F2F2F2"/>
                </a:solidFill>
                <a:latin typeface="HK Grotesk Light"/>
                <a:ea typeface="HK Grotesk Light"/>
                <a:cs typeface="HK Grotesk Light"/>
                <a:sym typeface="HK Grotesk Light"/>
              </a:rPr>
              <a:t>s</a:t>
            </a:r>
            <a:r>
              <a:rPr lang="en-US" sz="3000" strike="noStrike" u="none">
                <a:solidFill>
                  <a:srgbClr val="F2F2F2"/>
                </a:solidFill>
                <a:latin typeface="HK Grotesk Light"/>
                <a:ea typeface="HK Grotesk Light"/>
                <a:cs typeface="HK Grotesk Light"/>
                <a:sym typeface="HK Grotesk Light"/>
              </a:rPr>
              <a:t> </a:t>
            </a:r>
            <a:r>
              <a:rPr lang="en-US" sz="3000" strike="noStrike" u="none">
                <a:solidFill>
                  <a:srgbClr val="F2F2F2"/>
                </a:solidFill>
                <a:latin typeface="HK Grotesk Light"/>
                <a:ea typeface="HK Grotesk Light"/>
                <a:cs typeface="HK Grotesk Light"/>
                <a:sym typeface="HK Grotesk Light"/>
              </a:rPr>
              <a:t>w</a:t>
            </a:r>
            <a:r>
              <a:rPr lang="en-US" sz="3000" strike="noStrike" u="none">
                <a:solidFill>
                  <a:srgbClr val="F2F2F2"/>
                </a:solidFill>
                <a:latin typeface="HK Grotesk Light"/>
                <a:ea typeface="HK Grotesk Light"/>
                <a:cs typeface="HK Grotesk Light"/>
                <a:sym typeface="HK Grotesk Light"/>
              </a:rPr>
              <a:t>ere d</a:t>
            </a:r>
            <a:r>
              <a:rPr lang="en-US" sz="3000" strike="noStrike" u="none">
                <a:solidFill>
                  <a:srgbClr val="F2F2F2"/>
                </a:solidFill>
                <a:latin typeface="HK Grotesk Light"/>
                <a:ea typeface="HK Grotesk Light"/>
                <a:cs typeface="HK Grotesk Light"/>
                <a:sym typeface="HK Grotesk Light"/>
              </a:rPr>
              <a:t>esy</a:t>
            </a:r>
            <a:r>
              <a:rPr lang="en-US" sz="3000" strike="noStrike" u="none">
                <a:solidFill>
                  <a:srgbClr val="F2F2F2"/>
                </a:solidFill>
                <a:latin typeface="HK Grotesk Light"/>
                <a:ea typeface="HK Grotesk Light"/>
                <a:cs typeface="HK Grotesk Light"/>
                <a:sym typeface="HK Grotesk Light"/>
              </a:rPr>
              <a:t>nc</a:t>
            </a:r>
            <a:r>
              <a:rPr lang="en-US" sz="3000" strike="noStrike" u="none">
                <a:solidFill>
                  <a:srgbClr val="F2F2F2"/>
                </a:solidFill>
                <a:latin typeface="HK Grotesk Light"/>
                <a:ea typeface="HK Grotesk Light"/>
                <a:cs typeface="HK Grotesk Light"/>
                <a:sym typeface="HK Grotesk Light"/>
              </a:rPr>
              <a:t>hr</a:t>
            </a:r>
            <a:r>
              <a:rPr lang="en-US" sz="3000" strike="noStrike" u="none">
                <a:solidFill>
                  <a:srgbClr val="F2F2F2"/>
                </a:solidFill>
                <a:latin typeface="HK Grotesk Light"/>
                <a:ea typeface="HK Grotesk Light"/>
                <a:cs typeface="HK Grotesk Light"/>
                <a:sym typeface="HK Grotesk Light"/>
              </a:rPr>
              <a:t>oni</a:t>
            </a:r>
            <a:r>
              <a:rPr lang="en-US" sz="3000" strike="noStrike" u="none">
                <a:solidFill>
                  <a:srgbClr val="F2F2F2"/>
                </a:solidFill>
                <a:latin typeface="HK Grotesk Light"/>
                <a:ea typeface="HK Grotesk Light"/>
                <a:cs typeface="HK Grotesk Light"/>
                <a:sym typeface="HK Grotesk Light"/>
              </a:rPr>
              <a:t>zed</a:t>
            </a:r>
            <a:r>
              <a:rPr lang="en-US" sz="3000" strike="noStrike" u="none">
                <a:solidFill>
                  <a:srgbClr val="F2F2F2"/>
                </a:solidFill>
                <a:latin typeface="HK Grotesk Light"/>
                <a:ea typeface="HK Grotesk Light"/>
                <a:cs typeface="HK Grotesk Light"/>
                <a:sym typeface="HK Grotesk Light"/>
              </a:rPr>
              <a:t>.</a:t>
            </a:r>
          </a:p>
        </p:txBody>
      </p:sp>
      <p:sp>
        <p:nvSpPr>
          <p:cNvPr name="Freeform 7" id="7"/>
          <p:cNvSpPr/>
          <p:nvPr/>
        </p:nvSpPr>
        <p:spPr>
          <a:xfrm flipH="false" flipV="false" rot="4437773">
            <a:off x="13770320" y="-6241286"/>
            <a:ext cx="12640239" cy="11904807"/>
          </a:xfrm>
          <a:custGeom>
            <a:avLst/>
            <a:gdLst/>
            <a:ahLst/>
            <a:cxnLst/>
            <a:rect r="r" b="b" t="t" l="l"/>
            <a:pathLst>
              <a:path h="11904807" w="12640239">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sp>
        <p:nvSpPr>
          <p:cNvPr name="Freeform 2" id="2"/>
          <p:cNvSpPr/>
          <p:nvPr/>
        </p:nvSpPr>
        <p:spPr>
          <a:xfrm flipH="false" flipV="false" rot="-1268288">
            <a:off x="14795639" y="5873497"/>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268288">
            <a:off x="-6005389" y="-6781594"/>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2105025" y="3862388"/>
            <a:ext cx="12639675" cy="2280919"/>
          </a:xfrm>
          <a:prstGeom prst="rect">
            <a:avLst/>
          </a:prstGeom>
        </p:spPr>
        <p:txBody>
          <a:bodyPr anchor="t" rtlCol="false" tIns="0" lIns="0" bIns="0" rIns="0">
            <a:spAutoFit/>
          </a:bodyPr>
          <a:lstStyle/>
          <a:p>
            <a:pPr algn="l" marL="0" indent="0" lvl="0">
              <a:lnSpc>
                <a:spcPts val="8799"/>
              </a:lnSpc>
            </a:pPr>
            <a:r>
              <a:rPr lang="en-US" sz="8799">
                <a:solidFill>
                  <a:srgbClr val="F2F2F2"/>
                </a:solidFill>
                <a:latin typeface="Gilda Display"/>
                <a:ea typeface="Gilda Display"/>
                <a:cs typeface="Gilda Display"/>
                <a:sym typeface="Gilda Display"/>
              </a:rPr>
              <a:t>Future Enhancements Ahead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1E2F"/>
        </a:solidFill>
      </p:bgPr>
    </p:bg>
    <p:spTree>
      <p:nvGrpSpPr>
        <p:cNvPr id="1" name=""/>
        <p:cNvGrpSpPr/>
        <p:nvPr/>
      </p:nvGrpSpPr>
      <p:grpSpPr>
        <a:xfrm>
          <a:off x="0" y="0"/>
          <a:ext cx="0" cy="0"/>
          <a:chOff x="0" y="0"/>
          <a:chExt cx="0" cy="0"/>
        </a:xfrm>
      </p:grpSpPr>
      <p:sp>
        <p:nvSpPr>
          <p:cNvPr name="Freeform 2" id="2"/>
          <p:cNvSpPr/>
          <p:nvPr/>
        </p:nvSpPr>
        <p:spPr>
          <a:xfrm flipH="false" flipV="false" rot="-713832">
            <a:off x="-4531687" y="6137129"/>
            <a:ext cx="8157874" cy="9711754"/>
          </a:xfrm>
          <a:custGeom>
            <a:avLst/>
            <a:gdLst/>
            <a:ahLst/>
            <a:cxnLst/>
            <a:rect r="r" b="b" t="t" l="l"/>
            <a:pathLst>
              <a:path h="9711754" w="8157874">
                <a:moveTo>
                  <a:pt x="0" y="0"/>
                </a:moveTo>
                <a:lnTo>
                  <a:pt x="8157874" y="0"/>
                </a:lnTo>
                <a:lnTo>
                  <a:pt x="8157874" y="9711754"/>
                </a:lnTo>
                <a:lnTo>
                  <a:pt x="0" y="97117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666750" y="838200"/>
            <a:ext cx="16954500" cy="1166494"/>
          </a:xfrm>
          <a:prstGeom prst="rect">
            <a:avLst/>
          </a:prstGeom>
        </p:spPr>
        <p:txBody>
          <a:bodyPr anchor="t" rtlCol="false" tIns="0" lIns="0" bIns="0" rIns="0">
            <a:spAutoFit/>
          </a:bodyPr>
          <a:lstStyle/>
          <a:p>
            <a:pPr algn="l" marL="0" indent="0" lvl="0">
              <a:lnSpc>
                <a:spcPts val="8799"/>
              </a:lnSpc>
            </a:pPr>
            <a:r>
              <a:rPr lang="en-US" sz="8799">
                <a:solidFill>
                  <a:srgbClr val="9CA0FF"/>
                </a:solidFill>
                <a:latin typeface="Gilda Display"/>
                <a:ea typeface="Gilda Display"/>
                <a:cs typeface="Gilda Display"/>
                <a:sym typeface="Gilda Display"/>
              </a:rPr>
              <a:t>Future Enhancements</a:t>
            </a:r>
          </a:p>
        </p:txBody>
      </p:sp>
      <p:sp>
        <p:nvSpPr>
          <p:cNvPr name="TextBox 4" id="4"/>
          <p:cNvSpPr txBox="true"/>
          <p:nvPr/>
        </p:nvSpPr>
        <p:spPr>
          <a:xfrm rot="0">
            <a:off x="1894114" y="3026567"/>
            <a:ext cx="11263731" cy="4696662"/>
          </a:xfrm>
          <a:prstGeom prst="rect">
            <a:avLst/>
          </a:prstGeom>
        </p:spPr>
        <p:txBody>
          <a:bodyPr anchor="t" rtlCol="false" tIns="0" lIns="0" bIns="0" rIns="0">
            <a:spAutoFit/>
          </a:bodyPr>
          <a:lstStyle/>
          <a:p>
            <a:pPr algn="l" marL="876354" indent="-438177" lvl="1">
              <a:lnSpc>
                <a:spcPts val="5276"/>
              </a:lnSpc>
              <a:buFont typeface="Arial"/>
              <a:buChar char="•"/>
            </a:pPr>
            <a:r>
              <a:rPr lang="en-US" b="true" sz="4059">
                <a:solidFill>
                  <a:srgbClr val="F2F2F2"/>
                </a:solidFill>
                <a:latin typeface="HK Grotesk Bold"/>
                <a:ea typeface="HK Grotesk Bold"/>
                <a:cs typeface="HK Grotesk Bold"/>
                <a:sym typeface="HK Grotesk Bold"/>
              </a:rPr>
              <a:t>Sound Eff</a:t>
            </a:r>
            <a:r>
              <a:rPr lang="en-US" b="true" sz="4059">
                <a:solidFill>
                  <a:srgbClr val="F2F2F2"/>
                </a:solidFill>
                <a:latin typeface="HK Grotesk Bold"/>
                <a:ea typeface="HK Grotesk Bold"/>
                <a:cs typeface="HK Grotesk Bold"/>
                <a:sym typeface="HK Grotesk Bold"/>
              </a:rPr>
              <a:t>ects: </a:t>
            </a:r>
            <a:r>
              <a:rPr lang="en-US" sz="4059">
                <a:solidFill>
                  <a:srgbClr val="F2F2F2"/>
                </a:solidFill>
                <a:latin typeface="HK Grotesk Light"/>
                <a:ea typeface="HK Grotesk Light"/>
                <a:cs typeface="HK Grotesk Light"/>
                <a:sym typeface="HK Grotesk Light"/>
              </a:rPr>
              <a:t>Integrating sf::SoundBuffer for vacuum and jump sound effects.</a:t>
            </a:r>
          </a:p>
          <a:p>
            <a:pPr algn="l" marL="876354" indent="-438177" lvl="1">
              <a:lnSpc>
                <a:spcPts val="5276"/>
              </a:lnSpc>
              <a:buFont typeface="Arial"/>
              <a:buChar char="•"/>
            </a:pPr>
            <a:r>
              <a:rPr lang="en-US" b="true" sz="4059">
                <a:solidFill>
                  <a:srgbClr val="F2F2F2"/>
                </a:solidFill>
                <a:latin typeface="HK Grotesk Bold"/>
                <a:ea typeface="HK Grotesk Bold"/>
                <a:cs typeface="HK Grotesk Bold"/>
                <a:sym typeface="HK Grotesk Bold"/>
              </a:rPr>
              <a:t>Boss Fight:</a:t>
            </a:r>
            <a:r>
              <a:rPr lang="en-US" sz="4059">
                <a:solidFill>
                  <a:srgbClr val="F2F2F2"/>
                </a:solidFill>
                <a:latin typeface="HK Grotesk Light"/>
                <a:ea typeface="HK Grotesk Light"/>
                <a:cs typeface="HK Grotesk Light"/>
                <a:sym typeface="HK Grotesk Light"/>
              </a:rPr>
              <a:t> Adding a large boss enemy with a health bar for Level 3.</a:t>
            </a:r>
          </a:p>
          <a:p>
            <a:pPr algn="l" marL="876354" indent="-438177" lvl="1">
              <a:lnSpc>
                <a:spcPts val="5276"/>
              </a:lnSpc>
              <a:buFont typeface="Arial"/>
              <a:buChar char="•"/>
            </a:pPr>
            <a:r>
              <a:rPr lang="en-US" b="true" sz="4059">
                <a:solidFill>
                  <a:srgbClr val="F2F2F2"/>
                </a:solidFill>
                <a:latin typeface="HK Grotesk Bold"/>
                <a:ea typeface="HK Grotesk Bold"/>
                <a:cs typeface="HK Grotesk Bold"/>
                <a:sym typeface="HK Grotesk Bold"/>
              </a:rPr>
              <a:t>High Score Saving:</a:t>
            </a:r>
            <a:r>
              <a:rPr lang="en-US" sz="4059">
                <a:solidFill>
                  <a:srgbClr val="F2F2F2"/>
                </a:solidFill>
                <a:latin typeface="HK Grotesk Light"/>
                <a:ea typeface="HK Grotesk Light"/>
                <a:cs typeface="HK Grotesk Light"/>
                <a:sym typeface="HK Grotesk Light"/>
              </a:rPr>
              <a:t> Using file handling (fstream) to save player scores permanently</a:t>
            </a:r>
          </a:p>
          <a:p>
            <a:pPr algn="l" marL="876354" indent="-438177" lvl="1">
              <a:lnSpc>
                <a:spcPts val="5276"/>
              </a:lnSpc>
              <a:buFont typeface="Arial"/>
              <a:buChar char="•"/>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Tumble-POP 2D Game Development</dc:description>
  <dc:identifier>DAG63OjeC1Y</dc:identifier>
  <dcterms:modified xsi:type="dcterms:W3CDTF">2011-08-01T06:04:30Z</dcterms:modified>
  <cp:revision>1</cp:revision>
  <dc:title>Presentation - Tumble-POP 2D Game Development</dc:title>
</cp:coreProperties>
</file>